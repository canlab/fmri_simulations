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ference" id="{70A49079-731A-CEF5-F3BF-3BF2528841CC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2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6985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DE71B-F901-3939-AC59-91FC37DE7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48C13-51CE-DF33-7A2D-945AF7332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18ECF-B25D-068C-99A6-60C62359C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A12A9-7671-AF86-4A6C-7ADF687B14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43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Converting Cohen's d to Number Needed to Treat (NNT)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Two standard methods. They answer different questions and give different estimates. Good for NNT or Num Needed to Harm (NNH)</a:t>
            </a:r>
            <a:endParaRPr lang="en-US" sz="1500" dirty="0"/>
          </a:p>
        </p:txBody>
      </p:sp>
      <p:sp>
        <p:nvSpPr>
          <p:cNvPr id="4" name="1 · Kraemer &amp; Kupfer (2006): no base rate needed"/>
          <p:cNvSpPr/>
          <p:nvPr/>
        </p:nvSpPr>
        <p:spPr>
          <a:xfrm>
            <a:off x="457200" y="1463040"/>
            <a:ext cx="5760720" cy="1837944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39496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1 · Kraemer &amp; Kupfer (2006): no base rate needed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NNT = 1 / [2Φ(d/√2) − 1]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Φ(d/√2) = AUC (probability of superiority). Small-d shortcut: NNT ≈ 1.8 / d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“Success” = a random treated person beats a random control: not a clinical event, so this NNT runs optimistic.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i="1" dirty="0">
                <a:solidFill>
                  <a:schemeClr val="accent5"/>
                </a:solidFill>
              </a:rPr>
              <a:t>“How many people do you need to treat to be better than a randomly selected control?”</a:t>
            </a:r>
            <a:endParaRPr lang="en-US" sz="1400" i="1" dirty="0"/>
          </a:p>
        </p:txBody>
      </p:sp>
      <p:sp>
        <p:nvSpPr>
          <p:cNvPr id="6" name="2 · Furukawa (1999); Furukawa &amp; Leucht (2011): needs CER"/>
          <p:cNvSpPr/>
          <p:nvPr/>
        </p:nvSpPr>
        <p:spPr>
          <a:xfrm>
            <a:off x="466344" y="3593592"/>
            <a:ext cx="5760720" cy="1856232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9224" y="3685032"/>
            <a:ext cx="54955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2 · Furukawa (1999); Furukawa &amp; Leucht (2011): needs CER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EER = Φ(d + Φ⁻¹(CER));  NNT = 1 / (EER − CER)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Assumes a dichotomized normal latent outcome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EER = experimental (treatment) group event rate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CER = control event (response) rate (e.g., improvement without treatment).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Smallest at CER = 50%, grows toward either extreme. Matches how trials report NNT.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6344" y="5522976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Same d, different answer: </a:t>
            </a:r>
            <a:r>
              <a:rPr lang="en-US" sz="1400" dirty="0">
                <a:solidFill>
                  <a:schemeClr val="tx1"/>
                </a:solidFill>
              </a:rPr>
              <a:t>d = 0.5 gives NNT 3.6 (Kraemer) but 5–8.5 (Furukawa, CER 50%→10%). Say which method you used.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NNT by d</a:t>
            </a:r>
            <a:r>
              <a:rPr lang="en-US" sz="1200" dirty="0">
                <a:solidFill>
                  <a:schemeClr val="accent5"/>
                </a:solidFill>
              </a:rPr>
              <a:t>   (Furukawa columns in orange)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828800"/>
          <a:ext cx="5120640" cy="208483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Kraemer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 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 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 10%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583680" y="40233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Rules of thumb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Quick number: NNT ≈ 1.8/d (Kraemer). Treat it as a lower bound.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Clinically framed NNT: ≈1.5× Kraemer or more; better, plug in a realistic CER.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NNH: same formulas applied to the d for the adverse outcome.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Assumes normal, equal-variance outcomes; skew, floor effects, or heterogeneous response break it.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Logistic link: ln OR ≈ 1.81·d (Hasselblad &amp; Hedges; Chinn).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Kraemer HC, Kupfer DJ. Size of treatment effects and their importance to clinical research and practice. Biol Psychiatry 2006;59:990–996.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Furukawa TA. From effect size into number needed to treat. Lancet 1999;353:1680.   Furukawa TA, Leucht S. How to obtain NNT from Cohen's d and comparison with other methods. PLoS One 2011;6:e19070.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Hasselblad V, Hedges LV. Meta-analysis of screening and diagnostic tests. Psychol Bull 1995;117:167–178.   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Chinn S. A simple method for converting an odds ratio to effect size. Stat Med 2000;19:3127–3131.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4CA9B-FC07-CD81-949F-737691A75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F02FA0-7A71-332B-25A9-46FEA2D0D21A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Converting Cohen's d to Number Needed to Treat (NNT)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23BA4B-CEB1-D040-EFA0-C582561FFDD2}"/>
              </a:ext>
            </a:extLst>
          </p:cNvPr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Two standard methods. They answer different questions and give different estimates. Good for NNT or Num Needed to Harm (NNH)</a:t>
            </a:r>
            <a:endParaRPr lang="en-US" sz="1500" dirty="0"/>
          </a:p>
        </p:txBody>
      </p:sp>
      <p:sp>
        <p:nvSpPr>
          <p:cNvPr id="4" name="1 · Kraemer &amp; Kupfer (2006): no base rate needed">
            <a:extLst>
              <a:ext uri="{FF2B5EF4-FFF2-40B4-BE49-F238E27FC236}">
                <a16:creationId xmlns:a16="http://schemas.microsoft.com/office/drawing/2014/main" id="{DEB2C450-5BFA-F47C-81B0-F788CDB2761A}"/>
              </a:ext>
            </a:extLst>
          </p:cNvPr>
          <p:cNvSpPr/>
          <p:nvPr/>
        </p:nvSpPr>
        <p:spPr>
          <a:xfrm>
            <a:off x="457200" y="1463040"/>
            <a:ext cx="5760720" cy="1837944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35DAD5F-590F-DB14-11C3-5E4C844ECB46}"/>
              </a:ext>
            </a:extLst>
          </p:cNvPr>
          <p:cNvSpPr txBox="1"/>
          <p:nvPr/>
        </p:nvSpPr>
        <p:spPr>
          <a:xfrm>
            <a:off x="640080" y="1554480"/>
            <a:ext cx="539496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1 · Kraemer &amp; Kupfer (2006): no base rate needed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NNT = 1 / [2Φ(d/√2) − 1]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Φ(d/√2) = AUC (probability of superiority). Small-d shortcut: NNT ≈ 1.8 / d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“Success” = a random treated person beats a random control: not a clinical event, so this NNT runs optimistic.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i="1" dirty="0">
                <a:solidFill>
                  <a:schemeClr val="accent5"/>
                </a:solidFill>
              </a:rPr>
              <a:t>“How many people do you need to treat to be better than a randomly selected control?”</a:t>
            </a:r>
            <a:endParaRPr lang="en-US" sz="1400" i="1" dirty="0"/>
          </a:p>
        </p:txBody>
      </p:sp>
      <p:sp>
        <p:nvSpPr>
          <p:cNvPr id="6" name="2 · Furukawa (1999); Furukawa &amp; Leucht (2011): needs CER">
            <a:extLst>
              <a:ext uri="{FF2B5EF4-FFF2-40B4-BE49-F238E27FC236}">
                <a16:creationId xmlns:a16="http://schemas.microsoft.com/office/drawing/2014/main" id="{E2040F31-DEF0-2892-1F3D-55EAA306C953}"/>
              </a:ext>
            </a:extLst>
          </p:cNvPr>
          <p:cNvSpPr/>
          <p:nvPr/>
        </p:nvSpPr>
        <p:spPr>
          <a:xfrm>
            <a:off x="466344" y="3593592"/>
            <a:ext cx="5760720" cy="1856232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DD73095-BAE3-CE66-183D-841BD2E2163D}"/>
              </a:ext>
            </a:extLst>
          </p:cNvPr>
          <p:cNvSpPr txBox="1"/>
          <p:nvPr/>
        </p:nvSpPr>
        <p:spPr>
          <a:xfrm>
            <a:off x="649224" y="3685032"/>
            <a:ext cx="54955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2 · Furukawa (1999); Furukawa &amp; Leucht (2011): needs CER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EER = Φ(d + Φ⁻¹(CER));  NNT = 1 / (EER − CER)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Assumes a dichotomized normal latent outcome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EER = experimental (treatment) group event rate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CER = control event (response) rate (e.g., improvement without treatment).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Smallest at CER = 50%, grows toward either extreme. Matches how trials report NNT.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A79D80D-268E-817C-E1B9-E05E97A9AE8F}"/>
              </a:ext>
            </a:extLst>
          </p:cNvPr>
          <p:cNvSpPr txBox="1"/>
          <p:nvPr/>
        </p:nvSpPr>
        <p:spPr>
          <a:xfrm>
            <a:off x="466344" y="5522976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Same d, different answer: </a:t>
            </a:r>
            <a:r>
              <a:rPr lang="en-US" sz="1400" dirty="0">
                <a:solidFill>
                  <a:schemeClr val="tx1"/>
                </a:solidFill>
              </a:rPr>
              <a:t>d = 0.5 gives NNT 3.6 (Kraemer) but 5–8.5 (Furukawa, CER 50%→10%). Say which method you used.</a:t>
            </a:r>
            <a:endParaRPr lang="en-US" sz="14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4DCDE9E-F55C-59BA-8F5D-FD7BABC6EDDE}"/>
              </a:ext>
            </a:extLst>
          </p:cNvPr>
          <p:cNvSpPr txBox="1"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Kraemer HC, Kupfer DJ. Size of treatment effects and their importance to clinical research and practice. Biol Psychiatry 2006;59:990–996.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Furukawa TA. From effect size into number needed to treat. Lancet 1999;353:1680.   Furukawa TA, Leucht S. How to obtain NNT from Cohen's d and comparison with other methods. PLoS One 2011;6:e19070.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Hasselblad V, Hedges LV. Meta-analysis of screening and diagnostic tests. Psychol Bull 1995;117:167–178.   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Chinn S. A simple method for converting an odds ratio to effect size. Stat Med 2000;19:3127–3131.</a:t>
            </a:r>
            <a:endParaRPr 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B0529F-7041-38D7-C62B-F88AEF90A216}"/>
              </a:ext>
            </a:extLst>
          </p:cNvPr>
          <p:cNvSpPr txBox="1"/>
          <p:nvPr/>
        </p:nvSpPr>
        <p:spPr>
          <a:xfrm>
            <a:off x="6461760" y="1504295"/>
            <a:ext cx="526288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Matlab</a:t>
            </a:r>
            <a:r>
              <a:rPr lang="en-US" b="1" dirty="0"/>
              <a:t> code</a:t>
            </a:r>
          </a:p>
          <a:p>
            <a:endParaRPr lang="en-US" sz="1400" dirty="0"/>
          </a:p>
          <a:p>
            <a:r>
              <a:rPr lang="en-US" sz="1400" dirty="0">
                <a:latin typeface="Andale Mono" panose="020B0509000000000004" pitchFamily="49" charset="0"/>
              </a:rPr>
              <a:t>% Kraemer &amp; Kupfer (2006)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 err="1">
                <a:latin typeface="Andale Mono" panose="020B0509000000000004" pitchFamily="49" charset="0"/>
              </a:rPr>
              <a:t>auc</a:t>
            </a:r>
            <a:r>
              <a:rPr lang="en-US" sz="1400" dirty="0">
                <a:latin typeface="Andale Mono" panose="020B0509000000000004" pitchFamily="49" charset="0"/>
              </a:rPr>
              <a:t> = @(d) </a:t>
            </a:r>
            <a:r>
              <a:rPr lang="en-US" sz="1400" dirty="0" err="1">
                <a:latin typeface="Andale Mono" panose="020B0509000000000004" pitchFamily="49" charset="0"/>
              </a:rPr>
              <a:t>normcdf</a:t>
            </a:r>
            <a:r>
              <a:rPr lang="en-US" sz="1400" dirty="0">
                <a:latin typeface="Andale Mono" panose="020B0509000000000004" pitchFamily="49" charset="0"/>
              </a:rPr>
              <a:t>(d ./ sqrt(2));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d2nnt_kraemer = (@(d) 1 ./ (2 .* </a:t>
            </a:r>
            <a:r>
              <a:rPr lang="en-US" sz="1400" dirty="0" err="1">
                <a:latin typeface="Andale Mono" panose="020B0509000000000004" pitchFamily="49" charset="0"/>
              </a:rPr>
              <a:t>auc</a:t>
            </a:r>
            <a:r>
              <a:rPr lang="en-US" sz="1400" dirty="0">
                <a:latin typeface="Andale Mono" panose="020B0509000000000004" pitchFamily="49" charset="0"/>
              </a:rPr>
              <a:t>(d) - 1));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</a:rPr>
              <a:t>% </a:t>
            </a:r>
            <a:r>
              <a:rPr lang="en-US" sz="1400" dirty="0" err="1">
                <a:latin typeface="Andale Mono" panose="020B0509000000000004" pitchFamily="49" charset="0"/>
              </a:rPr>
              <a:t>Furakawa</a:t>
            </a:r>
            <a:endParaRPr lang="en-US" sz="1400" dirty="0">
              <a:latin typeface="Andale Mono" panose="020B0509000000000004" pitchFamily="49" charset="0"/>
            </a:endParaRP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 err="1">
                <a:latin typeface="Andale Mono" panose="020B0509000000000004" pitchFamily="49" charset="0"/>
              </a:rPr>
              <a:t>eer</a:t>
            </a:r>
            <a:r>
              <a:rPr lang="en-US" sz="1400" dirty="0">
                <a:latin typeface="Andale Mono" panose="020B0509000000000004" pitchFamily="49" charset="0"/>
              </a:rPr>
              <a:t> = @(d, </a:t>
            </a:r>
            <a:r>
              <a:rPr lang="en-US" sz="1400" dirty="0" err="1">
                <a:latin typeface="Andale Mono" panose="020B0509000000000004" pitchFamily="49" charset="0"/>
              </a:rPr>
              <a:t>cer</a:t>
            </a:r>
            <a:r>
              <a:rPr lang="en-US" sz="1400" dirty="0">
                <a:latin typeface="Andale Mono" panose="020B0509000000000004" pitchFamily="49" charset="0"/>
              </a:rPr>
              <a:t>) </a:t>
            </a:r>
            <a:r>
              <a:rPr lang="en-US" sz="1400" dirty="0" err="1">
                <a:latin typeface="Andale Mono" panose="020B0509000000000004" pitchFamily="49" charset="0"/>
              </a:rPr>
              <a:t>normcdf</a:t>
            </a:r>
            <a:r>
              <a:rPr lang="en-US" sz="1400" dirty="0">
                <a:latin typeface="Andale Mono" panose="020B0509000000000004" pitchFamily="49" charset="0"/>
              </a:rPr>
              <a:t>(d + </a:t>
            </a:r>
            <a:r>
              <a:rPr lang="en-US" sz="1400" dirty="0" err="1">
                <a:latin typeface="Andale Mono" panose="020B0509000000000004" pitchFamily="49" charset="0"/>
              </a:rPr>
              <a:t>norminv</a:t>
            </a:r>
            <a:r>
              <a:rPr lang="en-US" sz="1400" dirty="0">
                <a:latin typeface="Andale Mono" panose="020B0509000000000004" pitchFamily="49" charset="0"/>
              </a:rPr>
              <a:t>(</a:t>
            </a:r>
            <a:r>
              <a:rPr lang="en-US" sz="1400" dirty="0" err="1">
                <a:latin typeface="Andale Mono" panose="020B0509000000000004" pitchFamily="49" charset="0"/>
              </a:rPr>
              <a:t>cer</a:t>
            </a:r>
            <a:r>
              <a:rPr lang="en-US" sz="1400" dirty="0">
                <a:latin typeface="Andale Mono" panose="020B0509000000000004" pitchFamily="49" charset="0"/>
              </a:rPr>
              <a:t>));</a:t>
            </a:r>
          </a:p>
          <a:p>
            <a:r>
              <a:rPr lang="en-US" sz="1400" dirty="0" err="1">
                <a:latin typeface="Andale Mono" panose="020B0509000000000004" pitchFamily="49" charset="0"/>
              </a:rPr>
              <a:t>nnt_furukawa</a:t>
            </a:r>
            <a:r>
              <a:rPr lang="en-US" sz="1400" dirty="0">
                <a:latin typeface="Andale Mono" panose="020B0509000000000004" pitchFamily="49" charset="0"/>
              </a:rPr>
              <a:t> = @(d, </a:t>
            </a:r>
            <a:r>
              <a:rPr lang="en-US" sz="1400" dirty="0" err="1">
                <a:latin typeface="Andale Mono" panose="020B0509000000000004" pitchFamily="49" charset="0"/>
              </a:rPr>
              <a:t>cer</a:t>
            </a:r>
            <a:r>
              <a:rPr lang="en-US" sz="1400" dirty="0">
                <a:latin typeface="Andale Mono" panose="020B0509000000000004" pitchFamily="49" charset="0"/>
              </a:rPr>
              <a:t>) 1 ./ (</a:t>
            </a:r>
            <a:r>
              <a:rPr lang="en-US" sz="1400" dirty="0" err="1">
                <a:latin typeface="Andale Mono" panose="020B0509000000000004" pitchFamily="49" charset="0"/>
              </a:rPr>
              <a:t>eer</a:t>
            </a:r>
            <a:r>
              <a:rPr lang="en-US" sz="1400" dirty="0">
                <a:latin typeface="Andale Mono" panose="020B0509000000000004" pitchFamily="49" charset="0"/>
              </a:rPr>
              <a:t>(d, </a:t>
            </a:r>
            <a:r>
              <a:rPr lang="en-US" sz="1400" dirty="0" err="1">
                <a:latin typeface="Andale Mono" panose="020B0509000000000004" pitchFamily="49" charset="0"/>
              </a:rPr>
              <a:t>cer</a:t>
            </a:r>
            <a:r>
              <a:rPr lang="en-US" sz="1400" dirty="0">
                <a:latin typeface="Andale Mono" panose="020B0509000000000004" pitchFamily="49" charset="0"/>
              </a:rPr>
              <a:t>) - </a:t>
            </a:r>
            <a:r>
              <a:rPr lang="en-US" sz="1400" dirty="0" err="1">
                <a:latin typeface="Andale Mono" panose="020B0509000000000004" pitchFamily="49" charset="0"/>
              </a:rPr>
              <a:t>cer</a:t>
            </a:r>
            <a:r>
              <a:rPr lang="en-US" sz="1400" dirty="0">
                <a:latin typeface="Andale Mono" panose="020B05090000000000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148905866"/>
      </p:ext>
    </p:extLst>
  </p:cSld>
  <p:clrMapOvr>
    <a:masterClrMapping/>
  </p:clrMapOvr>
</p:sld>
</file>

<file path=ppt/theme/theme1.xml><?xml version="1.0" encoding="utf-8"?>
<a:theme xmlns:a="http://schemas.openxmlformats.org/drawingml/2006/main" name="NNT Reference">
  <a:themeElements>
    <a:clrScheme name="NNT Reference">
      <a:dk1>
        <a:srgbClr val="1F2A33"/>
      </a:dk1>
      <a:lt1>
        <a:srgbClr val="FFFFFF"/>
      </a:lt1>
      <a:dk2>
        <a:srgbClr val="2E4A5C"/>
      </a:dk2>
      <a:lt2>
        <a:srgbClr val="EEF3F5"/>
      </a:lt2>
      <a:accent1>
        <a:srgbClr val="1C6E7D"/>
      </a:accent1>
      <a:accent2>
        <a:srgbClr val="C2562F"/>
      </a:accent2>
      <a:accent3>
        <a:srgbClr val="7A9E9F"/>
      </a:accent3>
      <a:accent4>
        <a:srgbClr val="E9B44C"/>
      </a:accent4>
      <a:accent5>
        <a:srgbClr val="5B6770"/>
      </a:accent5>
      <a:accent6>
        <a:srgbClr val="A3C4BC"/>
      </a:accent6>
      <a:hlink>
        <a:srgbClr val="1C6E7D"/>
      </a:hlink>
      <a:folHlink>
        <a:srgbClr val="5B6770"/>
      </a:folHlink>
    </a:clrScheme>
    <a:fontScheme name="NNT Referen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900</Words>
  <Application>Microsoft Macintosh PowerPoint</Application>
  <PresentationFormat>Widescreen</PresentationFormat>
  <Paragraphs>92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Andale Mono</vt:lpstr>
      <vt:lpstr>Arial</vt:lpstr>
      <vt:lpstr>Calibri</vt:lpstr>
      <vt:lpstr>Cambria</vt:lpstr>
      <vt:lpstr>NNT Reference</vt:lpstr>
      <vt:lpstr>Converting Cohen's d to Number Needed to Treat (NNT)</vt:lpstr>
      <vt:lpstr>Converting Cohen's d to Number Needed to Treat (NNT)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Cohen's d to NNT/NNH</dc:title>
  <dc:subject>PptxGenJS Presentation</dc:subject>
  <dc:creator>PptxGenJS</dc:creator>
  <cp:lastModifiedBy>Tor D. Wager</cp:lastModifiedBy>
  <cp:revision>9</cp:revision>
  <dcterms:created xsi:type="dcterms:W3CDTF">2026-10-22T16:26:07Z</dcterms:created>
  <dcterms:modified xsi:type="dcterms:W3CDTF">2026-10-23T21:41:22Z</dcterms:modified>
</cp:coreProperties>
</file>