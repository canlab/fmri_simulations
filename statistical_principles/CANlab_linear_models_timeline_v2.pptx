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5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D715CF-41E9-B840-A172-4212AACB4741}">
          <p14:sldIdLst>
            <p14:sldId id="1044"/>
            <p14:sldId id="6392"/>
            <p14:sldId id="6388"/>
            <p14:sldId id="280"/>
            <p14:sldId id="668"/>
            <p14:sldId id="6387"/>
          </p14:sldIdLst>
        </p14:section>
        <p14:section name="Biomarkers" id="{4B1C522C-8827-CD43-A9AB-2CFC281B9ECC}">
          <p14:sldIdLst>
            <p14:sldId id="1040"/>
          </p14:sldIdLst>
        </p14:section>
        <p14:section name="learning" id="{79BC5BB2-A679-1F49-BB1D-25E71780562F}">
          <p14:sldIdLst>
            <p14:sldId id="1041"/>
          </p14:sldIdLst>
        </p14:section>
        <p14:section name="meaning" id="{066EC0B9-9D3F-8742-A38D-BEE3CE213553}">
          <p14:sldIdLst>
            <p14:sldId id="1042"/>
            <p14:sldId id="1047"/>
            <p14:sldId id="1052"/>
            <p14:sldId id="2489"/>
            <p14:sldId id="2554"/>
            <p14:sldId id="1039"/>
          </p14:sldIdLst>
        </p14:section>
        <p14:section name="end" id="{56053650-DFF2-2546-8409-50462E183FC5}">
          <p14:sldIdLst>
            <p14:sldId id="667"/>
          </p14:sldIdLst>
        </p14:section>
        <p14:section name="2025" id="{039E393C-2EE6-D849-9932-408E4896CD70}">
          <p14:sldIdLst>
            <p14:sldId id="6390"/>
            <p14:sldId id="6391"/>
            <p14:sldId id="6389"/>
            <p14:sldId id="2701"/>
            <p14:sldId id="2647"/>
            <p14:sldId id="2692"/>
            <p14:sldId id="501"/>
            <p14:sldId id="6386"/>
            <p14:sldId id="2699"/>
            <p14:sldId id="2694"/>
            <p14:sldId id="2557"/>
            <p14:sldId id="6382"/>
            <p14:sldId id="6385"/>
            <p14:sldId id="6383"/>
            <p14:sldId id="2695"/>
            <p14:sldId id="2704"/>
            <p14:sldId id="2707"/>
            <p14:sldId id="2706"/>
            <p14:sldId id="2697"/>
            <p14:sldId id="6384"/>
            <p14:sldId id="2703"/>
            <p14:sldId id="2696"/>
            <p14:sldId id="2705"/>
            <p14:sldId id="2555"/>
            <p14:sldId id="2556"/>
            <p14:sldId id="2693"/>
            <p14:sldId id="2702"/>
            <p14:sldId id="2537"/>
            <p14:sldId id="2553"/>
            <p14:sldId id="930"/>
            <p14:sldId id="1033"/>
          </p14:sldIdLst>
        </p14:section>
        <p14:section name="extras_cut" id="{DEB73C98-8B08-5943-AAB1-939C12E41A9A}">
          <p14:sldIdLst>
            <p14:sldId id="835"/>
            <p14:sldId id="356"/>
            <p14:sldId id="357"/>
            <p14:sldId id="358"/>
            <p14:sldId id="359"/>
            <p14:sldId id="360"/>
            <p14:sldId id="361"/>
            <p14:sldId id="3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02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1F"/>
    <a:srgbClr val="FF3652"/>
    <a:srgbClr val="D8C0F9"/>
    <a:srgbClr val="EAB0F9"/>
    <a:srgbClr val="ECC32A"/>
    <a:srgbClr val="FDF7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210" autoAdjust="0"/>
    <p:restoredTop sz="89178" autoAdjust="0"/>
  </p:normalViewPr>
  <p:slideViewPr>
    <p:cSldViewPr snapToGrid="0" snapToObjects="1">
      <p:cViewPr varScale="1">
        <p:scale>
          <a:sx n="150" d="100"/>
          <a:sy n="150" d="100"/>
        </p:scale>
        <p:origin x="320" y="168"/>
      </p:cViewPr>
      <p:guideLst>
        <p:guide orient="horz" pos="1602"/>
        <p:guide pos="2832"/>
      </p:guideLst>
    </p:cSldViewPr>
  </p:slideViewPr>
  <p:outlineViewPr>
    <p:cViewPr>
      <p:scale>
        <a:sx n="33" d="100"/>
        <a:sy n="33" d="100"/>
      </p:scale>
      <p:origin x="0" y="2080"/>
    </p:cViewPr>
  </p:outlineViewPr>
  <p:notesTextViewPr>
    <p:cViewPr>
      <p:scale>
        <a:sx n="95" d="100"/>
        <a:sy n="95" d="100"/>
      </p:scale>
      <p:origin x="0" y="0"/>
    </p:cViewPr>
  </p:notesTextViewPr>
  <p:sorterViewPr>
    <p:cViewPr varScale="1">
      <p:scale>
        <a:sx n="1" d="1"/>
        <a:sy n="1" d="1"/>
      </p:scale>
      <p:origin x="0" y="-14856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Neue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Neue Light" charset="0"/>
              </a:defRPr>
            </a:lvl1pPr>
          </a:lstStyle>
          <a:p>
            <a:fld id="{F85A8509-49F6-E24B-9FD2-E75A8E89A7C3}" type="datetimeFigureOut">
              <a:rPr lang="en-US" smtClean="0"/>
              <a:pPr/>
              <a:t>6/28/26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Neue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Neue Light" charset="0"/>
              </a:defRPr>
            </a:lvl1pPr>
          </a:lstStyle>
          <a:p>
            <a:fld id="{DAA9CBD1-1F0D-034A-94B6-9921798D1D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91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Helvetica Neue Light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Spacing is by event order, not year. Colors mark themes; the following slides unpack each theme. Selection favors conceptual advances that changed how linear models are specified, fitted or tested; applications (e.g., SPM GLM) and software (e.g., lme4) are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 in chronological order. 1805–09 Legendre; Gauss: Legendre 1805; Gauss 1809. 1886–97 Galton; Yule: Galton 1886, J Anthropol Inst; Yule 1897, Proc R Soc. 1908 Gosset (“Student”): Student 1908, Biometrika. 1922–25 Fisher: Fisher 1922, Phil Trans R Soc A; Fisher 1925, Statistical Methods for Research Workers. 1973–74 Akaike: Akaike 1973, 2nd Int Symp Inf Theory; Akaike 1974, IEEE Trans Autom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 in chronological order. 1935 Aitken: Aitken 1935, Proc R Soc Edinb. 1949–70 Durbin &amp; Watson; Box &amp; Jenkins: Cochrane &amp; Orcutt 1949; Durbin &amp; Watson 1950–51; Box &amp; Jenkins 1970. 1950–53 Henderson: Henderson 1953, Biometrics. 1971–82 Patterson &amp; Thompson; Laird &amp; Ware: Patterson &amp; Thompson 1971, Biometrika; Laird &amp; Ware 1982, Biometrics. 1986 Liang &amp; Zeger: Liang &amp; Zeger 1986, Biometrika; Zeger &amp; Liang 1986, Biometrics.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 in chronological order. 1958 Cox: Cox 1958, JRSS B; Berkson 1944, JASA. 1964 Huber: Huber 1964, Ann Math Stat; Huber 1973, Ann Stat. 1967 / 1980 Huber; White: Huber 1967, Proc Berkeley Symp; White 1980, Econometrica. 1972 Nelder &amp; Wedderburn: Nelder &amp; Wedderburn 1972, JRSS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 in chronological order. 1935–37 Fisher; Pitman: Fisher 1935, The Design of Experiments; Pitman 1937, JRSS Suppl. 1977 Dempster, Laird &amp; Rubin: Dempster, Laird &amp; Rubin 1977, JRSS B. 1979 Efron: Efron 1979, Ann Stat.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 in chronological order. 1964–79 Nadaraya &amp; Watson; Wahba: Nadaraya 1964; Watson 1964; Craven &amp; Wahba 1979, Numer Math. 1986 Hastie &amp; Tibshirani: Hastie &amp; Tibshirani 1986, Stat Sci. 1995 Cortes &amp; Vapnik: Boser, Guyon &amp; Vapnik 1992; Cortes &amp; Vapnik 1995, Mach Learn. 2006 Rasmussen &amp; Williams: Rasmussen &amp; Williams 2006, MIT Press; Krige 1951; Matheron 1963.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Cards in chronological order. 1956–61 Stein; James &amp; Stein: Stein 1956; James &amp; Stein 1961, Proc Berkeley Symp. 1970 Hoerl &amp; Kennard: Hoerl &amp; Kennard 1970, Technometrics. 1996 Tibshirani: Tibshirani 1996, JRSS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64A0-24AF-C946-AA02-1A6B0829E1E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59B6-2E99-EF40-AC78-E16653765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53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220" y="124336"/>
            <a:ext cx="8229600" cy="411981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64A0-24AF-C946-AA02-1A6B0829E1E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59B6-2E99-EF40-AC78-E166537651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62758" y="757672"/>
            <a:ext cx="839892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3F588AC3-4D9A-8DF3-CCFA-2391EC7FC3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69535" y="59074"/>
            <a:ext cx="434529" cy="63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1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686E-611C-8640-B583-7DD527C43D5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FED8-0C84-684F-A4AD-B8CC363E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8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64A0-24AF-C946-AA02-1A6B0829E1E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59B6-2E99-EF40-AC78-E16653765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7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464A0-24AF-C946-AA02-1A6B0829E1ED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59B6-2E99-EF40-AC78-E16653765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9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 userDrawn="1"/>
        </p:nvCxnSpPr>
        <p:spPr>
          <a:xfrm>
            <a:off x="224969" y="2448469"/>
            <a:ext cx="8718064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5185" y="940321"/>
            <a:ext cx="7512449" cy="1274618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ctr">
              <a:defRPr sz="2400" b="0" i="0">
                <a:latin typeface="Helvetica Neue"/>
                <a:cs typeface="Helvetica Neue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815434" y="2656508"/>
            <a:ext cx="7513131" cy="1670393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1800">
                <a:latin typeface="Helvetica Neue"/>
                <a:cs typeface="Helvetica Neue"/>
              </a:defRPr>
            </a:lvl1pPr>
            <a:lvl2pPr marL="342900" indent="0" algn="ctr">
              <a:buNone/>
              <a:defRPr sz="1400">
                <a:latin typeface="Helvetica Neue"/>
                <a:cs typeface="Helvetica Neue"/>
              </a:defRPr>
            </a:lvl2pPr>
            <a:lvl3pPr marL="685800" indent="0" algn="ctr">
              <a:buNone/>
              <a:defRPr sz="1200">
                <a:latin typeface="Helvetica Neue"/>
                <a:cs typeface="Helvetica Neue"/>
              </a:defRPr>
            </a:lvl3pPr>
            <a:lvl4pPr marL="1028700" indent="0" algn="ctr">
              <a:buNone/>
              <a:defRPr sz="1050">
                <a:latin typeface="Helvetica Neue"/>
                <a:cs typeface="Helvetica Neue"/>
              </a:defRPr>
            </a:lvl4pPr>
            <a:lvl5pPr marL="1371600" indent="0" algn="ctr">
              <a:buNone/>
              <a:defRPr sz="1050">
                <a:latin typeface="Helvetica Neue"/>
                <a:cs typeface="Helvetica Neue"/>
              </a:defRPr>
            </a:lvl5pPr>
          </a:lstStyle>
          <a:p>
            <a:pPr marL="257175" marR="0" lvl="0" indent="-257175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31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7F7F7F"/>
              </a:clrFrom>
              <a:clrTo>
                <a:srgbClr val="7F7F7F">
                  <a:alpha val="0"/>
                </a:srgbClr>
              </a:clrTo>
            </a:clrChang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99" t="3685" r="5052" b="5066"/>
          <a:stretch>
            <a:fillRect/>
          </a:stretch>
        </p:blipFill>
        <p:spPr bwMode="auto">
          <a:xfrm rot="16200000">
            <a:off x="2481121" y="535876"/>
            <a:ext cx="4050500" cy="407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BCFCAB8-9627-2343-975B-E1EE4DEBF88F}"/>
              </a:ext>
            </a:extLst>
          </p:cNvPr>
          <p:cNvGrpSpPr/>
          <p:nvPr userDrawn="1"/>
        </p:nvGrpSpPr>
        <p:grpSpPr>
          <a:xfrm>
            <a:off x="7634679" y="4747176"/>
            <a:ext cx="1570651" cy="400106"/>
            <a:chOff x="7581056" y="6357945"/>
            <a:chExt cx="1570651" cy="446276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81E6036-B28B-254B-A18F-EFE2B5816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1056" y="6357945"/>
              <a:ext cx="446276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993DC6-7AB9-8E43-85E5-7364DD72AEF2}"/>
                </a:ext>
              </a:extLst>
            </p:cNvPr>
            <p:cNvSpPr txBox="1"/>
            <p:nvPr/>
          </p:nvSpPr>
          <p:spPr>
            <a:xfrm>
              <a:off x="7684477" y="6381697"/>
              <a:ext cx="146723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lvl="0" algn="ctr">
                <a:spcBef>
                  <a:spcPts val="0"/>
                </a:spcBef>
                <a:defRPr sz="2000">
                  <a:solidFill>
                    <a:prstClr val="black"/>
                  </a:solidFill>
                  <a:effectLst>
                    <a:glow rad="63500">
                      <a:schemeClr val="bg1">
                        <a:alpha val="92000"/>
                      </a:schemeClr>
                    </a:glow>
                  </a:effectLst>
                  <a:latin typeface="Helvetica Neue Light"/>
                  <a:cs typeface="Helvetica Neue Light"/>
                </a:defRPr>
              </a:lvl1pPr>
            </a:lstStyle>
            <a:p>
              <a:r>
                <a:rPr lang="en-US" sz="1600" dirty="0"/>
                <a:t>@</a:t>
              </a:r>
              <a:r>
                <a:rPr lang="en-US" sz="1600" dirty="0" err="1"/>
                <a:t>torwager</a:t>
              </a:r>
              <a:endParaRPr lang="en-US" sz="16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20E6FB-6FE1-C44C-9B77-7686F5D622C8}"/>
              </a:ext>
            </a:extLst>
          </p:cNvPr>
          <p:cNvSpPr txBox="1"/>
          <p:nvPr userDrawn="1"/>
        </p:nvSpPr>
        <p:spPr>
          <a:xfrm>
            <a:off x="0" y="4747176"/>
            <a:ext cx="2884933" cy="338554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ctr">
              <a:spcBef>
                <a:spcPts val="0"/>
              </a:spcBef>
              <a:defRPr sz="200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defRPr>
            </a:lvl1pPr>
          </a:lstStyle>
          <a:p>
            <a:r>
              <a:rPr lang="en-US" sz="1600" dirty="0" err="1"/>
              <a:t>sites.dartmouth.edu</a:t>
            </a:r>
            <a:r>
              <a:rPr lang="en-US" sz="1600" dirty="0"/>
              <a:t>/</a:t>
            </a:r>
            <a:r>
              <a:rPr lang="en-US" sz="1600" dirty="0" err="1"/>
              <a:t>canlab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D7AC4-4EF1-5F46-B2BC-F15E32946722}"/>
              </a:ext>
            </a:extLst>
          </p:cNvPr>
          <p:cNvSpPr txBox="1"/>
          <p:nvPr userDrawn="1"/>
        </p:nvSpPr>
        <p:spPr>
          <a:xfrm>
            <a:off x="2651122" y="5200582"/>
            <a:ext cx="3880576" cy="338554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ctr">
              <a:spcBef>
                <a:spcPts val="0"/>
              </a:spcBef>
              <a:defRPr sz="200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defRPr>
            </a:lvl1pPr>
          </a:lstStyle>
          <a:p>
            <a:r>
              <a:rPr lang="en-US" sz="1600" b="1" dirty="0"/>
              <a:t>Data and code</a:t>
            </a:r>
            <a:r>
              <a:rPr lang="en-US" sz="1600" dirty="0"/>
              <a:t>: </a:t>
            </a:r>
            <a:r>
              <a:rPr lang="en-US" sz="1600" dirty="0" err="1"/>
              <a:t>canlab.github.io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3764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750489" y="2458517"/>
            <a:ext cx="7513131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50489" y="895823"/>
            <a:ext cx="7512449" cy="1274618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ctr">
              <a:defRPr sz="2400" b="0" i="0">
                <a:latin typeface="Helvetica Neue"/>
                <a:cs typeface="Helvetica Neue"/>
              </a:defRPr>
            </a:lvl1pPr>
          </a:lstStyle>
          <a:p>
            <a:endParaRPr lang="en-US" dirty="0"/>
          </a:p>
        </p:txBody>
      </p:sp>
      <p:pic>
        <p:nvPicPr>
          <p:cNvPr id="10" name="Picture 31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7F7F7F"/>
              </a:clrFrom>
              <a:clrTo>
                <a:srgbClr val="7F7F7F">
                  <a:alpha val="0"/>
                </a:srgbClr>
              </a:clrTo>
            </a:clrChange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99" t="3685" r="5052" b="5066"/>
          <a:stretch>
            <a:fillRect/>
          </a:stretch>
        </p:blipFill>
        <p:spPr bwMode="auto">
          <a:xfrm rot="16200000">
            <a:off x="2481663" y="494204"/>
            <a:ext cx="4050500" cy="4071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BCFCAB8-9627-2343-975B-E1EE4DEBF88F}"/>
              </a:ext>
            </a:extLst>
          </p:cNvPr>
          <p:cNvGrpSpPr/>
          <p:nvPr userDrawn="1"/>
        </p:nvGrpSpPr>
        <p:grpSpPr>
          <a:xfrm>
            <a:off x="7573349" y="4743394"/>
            <a:ext cx="1570651" cy="400106"/>
            <a:chOff x="7581056" y="6357945"/>
            <a:chExt cx="1570651" cy="446276"/>
          </a:xfrm>
        </p:grpSpPr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81E6036-B28B-254B-A18F-EFE2B5816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81056" y="6357945"/>
              <a:ext cx="446276" cy="446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993DC6-7AB9-8E43-85E5-7364DD72AEF2}"/>
                </a:ext>
              </a:extLst>
            </p:cNvPr>
            <p:cNvSpPr txBox="1"/>
            <p:nvPr/>
          </p:nvSpPr>
          <p:spPr>
            <a:xfrm>
              <a:off x="7684477" y="6381697"/>
              <a:ext cx="1467230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lvl="0" algn="ctr">
                <a:spcBef>
                  <a:spcPts val="0"/>
                </a:spcBef>
                <a:defRPr sz="2000">
                  <a:solidFill>
                    <a:prstClr val="black"/>
                  </a:solidFill>
                  <a:effectLst>
                    <a:glow rad="63500">
                      <a:schemeClr val="bg1">
                        <a:alpha val="92000"/>
                      </a:schemeClr>
                    </a:glow>
                  </a:effectLst>
                  <a:latin typeface="Helvetica Neue Light"/>
                  <a:cs typeface="Helvetica Neue Light"/>
                </a:defRPr>
              </a:lvl1pPr>
            </a:lstStyle>
            <a:p>
              <a:r>
                <a:rPr lang="en-US" sz="1600" dirty="0"/>
                <a:t>@</a:t>
              </a:r>
              <a:r>
                <a:rPr lang="en-US" sz="1600" dirty="0" err="1"/>
                <a:t>torwager</a:t>
              </a:r>
              <a:endParaRPr lang="en-US" sz="16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20E6FB-6FE1-C44C-9B77-7686F5D622C8}"/>
              </a:ext>
            </a:extLst>
          </p:cNvPr>
          <p:cNvSpPr txBox="1"/>
          <p:nvPr userDrawn="1"/>
        </p:nvSpPr>
        <p:spPr>
          <a:xfrm>
            <a:off x="-140677" y="4747176"/>
            <a:ext cx="2884933" cy="338554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ctr">
              <a:spcBef>
                <a:spcPts val="0"/>
              </a:spcBef>
              <a:defRPr sz="200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defRPr>
            </a:lvl1pPr>
          </a:lstStyle>
          <a:p>
            <a:r>
              <a:rPr lang="en-US" sz="1600" dirty="0" err="1"/>
              <a:t>wagerlab.colorado.edu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D7AC4-4EF1-5F46-B2BC-F15E32946722}"/>
              </a:ext>
            </a:extLst>
          </p:cNvPr>
          <p:cNvSpPr txBox="1"/>
          <p:nvPr userDrawn="1"/>
        </p:nvSpPr>
        <p:spPr>
          <a:xfrm>
            <a:off x="2651122" y="5200582"/>
            <a:ext cx="3880576" cy="338554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lvl="0" algn="ctr">
              <a:spcBef>
                <a:spcPts val="0"/>
              </a:spcBef>
              <a:defRPr sz="2000">
                <a:solidFill>
                  <a:prstClr val="black"/>
                </a:solidFill>
                <a:effectLst>
                  <a:glow rad="63500">
                    <a:schemeClr val="bg1">
                      <a:alpha val="92000"/>
                    </a:schemeClr>
                  </a:glow>
                </a:effectLst>
                <a:latin typeface="Helvetica Neue Light"/>
                <a:cs typeface="Helvetica Neue Light"/>
              </a:defRPr>
            </a:lvl1pPr>
          </a:lstStyle>
          <a:p>
            <a:r>
              <a:rPr lang="en-US" sz="1600" b="1" dirty="0"/>
              <a:t>Data and code</a:t>
            </a:r>
            <a:r>
              <a:rPr lang="en-US" sz="1600" dirty="0"/>
              <a:t>: </a:t>
            </a:r>
            <a:r>
              <a:rPr lang="en-US" sz="1600" dirty="0" err="1"/>
              <a:t>canlab.github.io</a:t>
            </a:r>
            <a:endParaRPr lang="en-US" sz="1600" dirty="0"/>
          </a:p>
        </p:txBody>
      </p:sp>
      <p:pic>
        <p:nvPicPr>
          <p:cNvPr id="15" name="Picture 14" descr="A close up of a logo&#10;&#10;Description automatically generated">
            <a:extLst>
              <a:ext uri="{FF2B5EF4-FFF2-40B4-BE49-F238E27FC236}">
                <a16:creationId xmlns:a16="http://schemas.microsoft.com/office/drawing/2014/main" id="{0A677E17-18D8-EA45-A1C0-4D66B1E2F8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8162" y="3175864"/>
            <a:ext cx="1507253" cy="107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47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163551" y="840581"/>
            <a:ext cx="8854069" cy="3853742"/>
          </a:xfrm>
          <a:prstGeom prst="rect">
            <a:avLst/>
          </a:prstGeom>
        </p:spPr>
        <p:txBody>
          <a:bodyPr vert="horz"/>
          <a:lstStyle>
            <a:lvl1pPr marL="303610" indent="-173831">
              <a:defRPr sz="1800" b="0" i="0">
                <a:latin typeface="Helvetica Neue"/>
                <a:cs typeface="Helvetica Neue"/>
              </a:defRPr>
            </a:lvl1pPr>
            <a:lvl2pPr marL="642938" indent="-172641">
              <a:buFont typeface="Arial"/>
              <a:buChar char="•"/>
              <a:defRPr sz="1400" b="0" i="0">
                <a:latin typeface="Helvetica Neue Light"/>
                <a:cs typeface="Helvetica Neue Light"/>
              </a:defRPr>
            </a:lvl2pPr>
            <a:lvl3pPr marL="857250" indent="-127397">
              <a:defRPr sz="1200" b="0" i="0">
                <a:latin typeface="Helvetica Neue"/>
                <a:cs typeface="Helvetica Neue"/>
              </a:defRPr>
            </a:lvl3pPr>
            <a:lvl4pPr marL="1113235" indent="-129779">
              <a:buFont typeface="Arial"/>
              <a:buChar char="•"/>
              <a:defRPr sz="1050" b="0" i="0">
                <a:latin typeface="Helvetica Neue Light"/>
                <a:cs typeface="Helvetica Neue Light"/>
              </a:defRPr>
            </a:lvl4pPr>
            <a:lvl5pPr marL="1329929" indent="-129779">
              <a:buFont typeface="Arial"/>
              <a:buChar char="•"/>
              <a:defRPr sz="1050" b="0" i="0">
                <a:latin typeface="Helvetica Neue"/>
                <a:cs typeface="Helvetica Neue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082AC9-E971-C449-8CA8-DB2AA5694D06}"/>
              </a:ext>
            </a:extLst>
          </p:cNvPr>
          <p:cNvCxnSpPr>
            <a:cxnSpLocks/>
          </p:cNvCxnSpPr>
          <p:nvPr userDrawn="1"/>
        </p:nvCxnSpPr>
        <p:spPr>
          <a:xfrm>
            <a:off x="109281" y="754560"/>
            <a:ext cx="9034719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8">
            <a:extLst>
              <a:ext uri="{FF2B5EF4-FFF2-40B4-BE49-F238E27FC236}">
                <a16:creationId xmlns:a16="http://schemas.microsoft.com/office/drawing/2014/main" id="{D06BE43F-CDF6-5E49-A01A-6BB910A4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80" y="0"/>
            <a:ext cx="8302921" cy="75455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>
              <a:defRPr sz="2200" b="0" i="0">
                <a:latin typeface="Helvetica Neue Light"/>
                <a:cs typeface="Helvetica Neue Light"/>
              </a:defRPr>
            </a:lvl1pPr>
          </a:lstStyle>
          <a:p>
            <a:endParaRPr lang="en-US" dirty="0"/>
          </a:p>
        </p:txBody>
      </p:sp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0D5EC5B9-9F1C-9D46-AFBA-B96978ACDA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062" t="8265" r="14937" b="9085"/>
          <a:stretch/>
        </p:blipFill>
        <p:spPr>
          <a:xfrm>
            <a:off x="8407996" y="9274"/>
            <a:ext cx="736004" cy="7360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CF16DD-0D23-F94E-9A65-C8FA544068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8193" y="24807"/>
            <a:ext cx="731798" cy="7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8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 userDrawn="1"/>
        </p:nvCxnSpPr>
        <p:spPr>
          <a:xfrm>
            <a:off x="109281" y="754560"/>
            <a:ext cx="9034719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9397" y="-18563"/>
            <a:ext cx="731798" cy="773114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505EC12C-C5DE-2C4B-99E2-FA2DF6F3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80" y="0"/>
            <a:ext cx="8302921" cy="754551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l">
              <a:defRPr sz="2200" b="0" i="0">
                <a:latin typeface="Helvetica Neue Light"/>
                <a:cs typeface="Helvetica Neue Light"/>
              </a:defRPr>
            </a:lvl1pPr>
          </a:lstStyle>
          <a:p>
            <a:endParaRPr lang="en-US" dirty="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ECAE8EE7-39DD-4640-BBF1-364BF13A82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8062" t="8265" r="14937" b="9085"/>
          <a:stretch/>
        </p:blipFill>
        <p:spPr>
          <a:xfrm>
            <a:off x="8407996" y="9274"/>
            <a:ext cx="736004" cy="73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2909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Helvetica Neue Light" charset="0"/>
              </a:defRPr>
            </a:lvl1pPr>
          </a:lstStyle>
          <a:p>
            <a:fld id="{F19464A0-24AF-C946-AA02-1A6B0829E1ED}" type="datetimeFigureOut">
              <a:rPr lang="en-US" smtClean="0"/>
              <a:pPr/>
              <a:t>6/28/26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Helvetica Neue Light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Helvetica Neue Light" charset="0"/>
              </a:defRPr>
            </a:lvl1pPr>
          </a:lstStyle>
          <a:p>
            <a:fld id="{94D459B6-2E99-EF40-AC78-E16653765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79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3" r:id="rId3"/>
    <p:sldLayoutId id="2147483664" r:id="rId4"/>
    <p:sldLayoutId id="2147483665" r:id="rId5"/>
    <p:sldLayoutId id="2147483668" r:id="rId6"/>
    <p:sldLayoutId id="2147483673" r:id="rId7"/>
    <p:sldLayoutId id="2147483650" r:id="rId8"/>
    <p:sldLayoutId id="2147483671" r:id="rId9"/>
    <p:sldLayoutId id="2147483674" r:id="rId10"/>
  </p:sldLayoutIdLst>
  <p:txStyles>
    <p:titleStyle>
      <a:lvl1pPr algn="l" defTabSz="3429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Helvetica Neue Light" charset="0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 Neue Light" charset="0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Helvetica Neue Light" charset="0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Helvetica Neue Light" charset="0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Helvetica Neue Light" charset="0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Helvetica Neue Light" charset="0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centuries of the linear model</a:t>
            </a:r>
          </a:p>
        </p:txBody>
      </p:sp>
      <p:cxnSp>
        <p:nvCxnSpPr>
          <p:cNvPr id="3" name="Time axis"/>
          <p:cNvCxnSpPr/>
          <p:nvPr/>
        </p:nvCxnSpPr>
        <p:spPr>
          <a:xfrm>
            <a:off x="320040" y="2834640"/>
            <a:ext cx="8503920" cy="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Tick 1"/>
          <p:cNvCxnSpPr/>
          <p:nvPr/>
        </p:nvCxnSpPr>
        <p:spPr>
          <a:xfrm flipV="1">
            <a:off x="731520" y="2724912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ot 1"/>
          <p:cNvSpPr/>
          <p:nvPr/>
        </p:nvSpPr>
        <p:spPr>
          <a:xfrm>
            <a:off x="676656" y="2779776"/>
            <a:ext cx="109728" cy="109728"/>
          </a:xfrm>
          <a:prstGeom prst="ellipse">
            <a:avLst/>
          </a:prstGeom>
          <a:solidFill>
            <a:srgbClr val="3A3A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vent 1: 1805–09 Legendre; Gauss"/>
          <p:cNvSpPr txBox="1"/>
          <p:nvPr/>
        </p:nvSpPr>
        <p:spPr>
          <a:xfrm>
            <a:off x="128016" y="1847088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3A3A3A"/>
                </a:solidFill>
                <a:latin typeface="Helvetica Neue"/>
              </a:rPr>
              <a:t>1805–09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Legendre; Gauss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Least squares; normal error model</a:t>
            </a:r>
          </a:p>
        </p:txBody>
      </p:sp>
      <p:cxnSp>
        <p:nvCxnSpPr>
          <p:cNvPr id="7" name="Tick 2"/>
          <p:cNvCxnSpPr/>
          <p:nvPr/>
        </p:nvCxnSpPr>
        <p:spPr>
          <a:xfrm>
            <a:off x="1065474" y="2834640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t 2"/>
          <p:cNvSpPr/>
          <p:nvPr/>
        </p:nvSpPr>
        <p:spPr>
          <a:xfrm>
            <a:off x="1010610" y="2779776"/>
            <a:ext cx="109728" cy="109728"/>
          </a:xfrm>
          <a:prstGeom prst="ellipse">
            <a:avLst/>
          </a:prstGeom>
          <a:solidFill>
            <a:srgbClr val="3A3A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vent 2: 1886–97 Galton; Yule"/>
          <p:cNvSpPr txBox="1"/>
          <p:nvPr/>
        </p:nvSpPr>
        <p:spPr>
          <a:xfrm>
            <a:off x="461970" y="2971800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3A3A3A"/>
                </a:solidFill>
                <a:latin typeface="Helvetica Neue"/>
              </a:rPr>
              <a:t>1886–97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Galton; Yule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Regression; multiple regression</a:t>
            </a:r>
          </a:p>
        </p:txBody>
      </p:sp>
      <p:cxnSp>
        <p:nvCxnSpPr>
          <p:cNvPr id="10" name="Tick 3"/>
          <p:cNvCxnSpPr/>
          <p:nvPr/>
        </p:nvCxnSpPr>
        <p:spPr>
          <a:xfrm flipV="1">
            <a:off x="1399429" y="1746504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ot 3"/>
          <p:cNvSpPr/>
          <p:nvPr/>
        </p:nvSpPr>
        <p:spPr>
          <a:xfrm>
            <a:off x="1344565" y="2779776"/>
            <a:ext cx="109728" cy="109728"/>
          </a:xfrm>
          <a:prstGeom prst="ellipse">
            <a:avLst/>
          </a:prstGeom>
          <a:solidFill>
            <a:srgbClr val="3A3A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vent 3: 1908 Gosset (“Student”)"/>
          <p:cNvSpPr txBox="1"/>
          <p:nvPr/>
        </p:nvSpPr>
        <p:spPr>
          <a:xfrm>
            <a:off x="795925" y="868680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3A3A3A"/>
                </a:solidFill>
                <a:latin typeface="Helvetica Neue"/>
              </a:rPr>
              <a:t>1908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Gosset (“Student”)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t distribution for small samples</a:t>
            </a:r>
          </a:p>
        </p:txBody>
      </p:sp>
      <p:cxnSp>
        <p:nvCxnSpPr>
          <p:cNvPr id="13" name="Tick 4"/>
          <p:cNvCxnSpPr/>
          <p:nvPr/>
        </p:nvCxnSpPr>
        <p:spPr>
          <a:xfrm>
            <a:off x="1733384" y="2834640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ot 4"/>
          <p:cNvSpPr/>
          <p:nvPr/>
        </p:nvSpPr>
        <p:spPr>
          <a:xfrm>
            <a:off x="1678520" y="2779776"/>
            <a:ext cx="109728" cy="109728"/>
          </a:xfrm>
          <a:prstGeom prst="ellipse">
            <a:avLst/>
          </a:prstGeom>
          <a:solidFill>
            <a:srgbClr val="3A3A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vent 4: 1922–25 Fisher"/>
          <p:cNvSpPr txBox="1"/>
          <p:nvPr/>
        </p:nvSpPr>
        <p:spPr>
          <a:xfrm>
            <a:off x="1129880" y="3950208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3A3A3A"/>
                </a:solidFill>
                <a:latin typeface="Helvetica Neue"/>
              </a:rPr>
              <a:t>1922–25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Fisher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Likelihood, ANOVA, F test</a:t>
            </a:r>
          </a:p>
        </p:txBody>
      </p:sp>
      <p:cxnSp>
        <p:nvCxnSpPr>
          <p:cNvPr id="16" name="Tick 5"/>
          <p:cNvCxnSpPr/>
          <p:nvPr/>
        </p:nvCxnSpPr>
        <p:spPr>
          <a:xfrm flipV="1">
            <a:off x="2067339" y="2724912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ot 5"/>
          <p:cNvSpPr/>
          <p:nvPr/>
        </p:nvSpPr>
        <p:spPr>
          <a:xfrm>
            <a:off x="2012475" y="2779776"/>
            <a:ext cx="109728" cy="109728"/>
          </a:xfrm>
          <a:prstGeom prst="ellipse">
            <a:avLst/>
          </a:prstGeom>
          <a:solidFill>
            <a:srgbClr val="1F3A5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vent 5: 1935 Aitken"/>
          <p:cNvSpPr txBox="1"/>
          <p:nvPr/>
        </p:nvSpPr>
        <p:spPr>
          <a:xfrm>
            <a:off x="1463835" y="1847088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F3A5F"/>
                </a:solidFill>
                <a:latin typeface="Helvetica Neue"/>
              </a:rPr>
              <a:t>1935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Aitken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Generalized least squares</a:t>
            </a:r>
          </a:p>
        </p:txBody>
      </p:sp>
      <p:cxnSp>
        <p:nvCxnSpPr>
          <p:cNvPr id="19" name="Tick 6"/>
          <p:cNvCxnSpPr/>
          <p:nvPr/>
        </p:nvCxnSpPr>
        <p:spPr>
          <a:xfrm>
            <a:off x="2401293" y="2834640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ot 6"/>
          <p:cNvSpPr/>
          <p:nvPr/>
        </p:nvSpPr>
        <p:spPr>
          <a:xfrm>
            <a:off x="2346429" y="2779776"/>
            <a:ext cx="109728" cy="109728"/>
          </a:xfrm>
          <a:prstGeom prst="ellipse">
            <a:avLst/>
          </a:prstGeom>
          <a:solidFill>
            <a:srgbClr val="6B7F2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vent 6: 1935–37 Fisher; Pitman"/>
          <p:cNvSpPr txBox="1"/>
          <p:nvPr/>
        </p:nvSpPr>
        <p:spPr>
          <a:xfrm>
            <a:off x="1797789" y="2971800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6B7F2A"/>
                </a:solidFill>
                <a:latin typeface="Helvetica Neue"/>
              </a:rPr>
              <a:t>1935–37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Fisher; Pitman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Permutation tests</a:t>
            </a:r>
          </a:p>
        </p:txBody>
      </p:sp>
      <p:cxnSp>
        <p:nvCxnSpPr>
          <p:cNvPr id="22" name="Tick 7"/>
          <p:cNvCxnSpPr/>
          <p:nvPr/>
        </p:nvCxnSpPr>
        <p:spPr>
          <a:xfrm flipV="1">
            <a:off x="2735248" y="1746504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ot 7"/>
          <p:cNvSpPr/>
          <p:nvPr/>
        </p:nvSpPr>
        <p:spPr>
          <a:xfrm>
            <a:off x="2680384" y="2779776"/>
            <a:ext cx="109728" cy="109728"/>
          </a:xfrm>
          <a:prstGeom prst="ellipse">
            <a:avLst/>
          </a:prstGeom>
          <a:solidFill>
            <a:srgbClr val="1F3A5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vent 7: 1949–70 Durbin &amp; Watson; Box &amp; Jenkins"/>
          <p:cNvSpPr txBox="1"/>
          <p:nvPr/>
        </p:nvSpPr>
        <p:spPr>
          <a:xfrm>
            <a:off x="2131744" y="868680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F3A5F"/>
                </a:solidFill>
                <a:latin typeface="Helvetica Neue"/>
              </a:rPr>
              <a:t>1949–70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Durbin &amp; Watson; Box &amp; Jenkins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Autocorrelated errors; ARIMA</a:t>
            </a:r>
          </a:p>
        </p:txBody>
      </p:sp>
      <p:cxnSp>
        <p:nvCxnSpPr>
          <p:cNvPr id="25" name="Tick 8"/>
          <p:cNvCxnSpPr/>
          <p:nvPr/>
        </p:nvCxnSpPr>
        <p:spPr>
          <a:xfrm>
            <a:off x="3069203" y="2834640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ot 8"/>
          <p:cNvSpPr/>
          <p:nvPr/>
        </p:nvSpPr>
        <p:spPr>
          <a:xfrm>
            <a:off x="3014339" y="2779776"/>
            <a:ext cx="109728" cy="109728"/>
          </a:xfrm>
          <a:prstGeom prst="ellipse">
            <a:avLst/>
          </a:prstGeom>
          <a:solidFill>
            <a:srgbClr val="1F3A5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vent 8: 1950–53 Henderson"/>
          <p:cNvSpPr txBox="1"/>
          <p:nvPr/>
        </p:nvSpPr>
        <p:spPr>
          <a:xfrm>
            <a:off x="2465699" y="3950208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F3A5F"/>
                </a:solidFill>
                <a:latin typeface="Helvetica Neue"/>
              </a:rPr>
              <a:t>1950–53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Henderson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Mixed-model equations, BLUP</a:t>
            </a:r>
          </a:p>
        </p:txBody>
      </p:sp>
      <p:cxnSp>
        <p:nvCxnSpPr>
          <p:cNvPr id="28" name="Tick 9"/>
          <p:cNvCxnSpPr/>
          <p:nvPr/>
        </p:nvCxnSpPr>
        <p:spPr>
          <a:xfrm flipV="1">
            <a:off x="3403158" y="2724912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ot 9"/>
          <p:cNvSpPr/>
          <p:nvPr/>
        </p:nvSpPr>
        <p:spPr>
          <a:xfrm>
            <a:off x="3348294" y="2779776"/>
            <a:ext cx="109728" cy="109728"/>
          </a:xfrm>
          <a:prstGeom prst="ellipse">
            <a:avLst/>
          </a:prstGeom>
          <a:solidFill>
            <a:srgbClr val="8E3B8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vent 9: 1956–61 Stein; James &amp; Stein"/>
          <p:cNvSpPr txBox="1"/>
          <p:nvPr/>
        </p:nvSpPr>
        <p:spPr>
          <a:xfrm>
            <a:off x="2799654" y="1847088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8E3B8C"/>
                </a:solidFill>
                <a:latin typeface="Helvetica Neue"/>
              </a:rPr>
              <a:t>1956–61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Stein; James &amp; Stein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Shrinkage beats least squares</a:t>
            </a:r>
          </a:p>
        </p:txBody>
      </p:sp>
      <p:cxnSp>
        <p:nvCxnSpPr>
          <p:cNvPr id="31" name="Tick 10"/>
          <p:cNvCxnSpPr/>
          <p:nvPr/>
        </p:nvCxnSpPr>
        <p:spPr>
          <a:xfrm>
            <a:off x="3737113" y="2834640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ot 10"/>
          <p:cNvSpPr/>
          <p:nvPr/>
        </p:nvSpPr>
        <p:spPr>
          <a:xfrm>
            <a:off x="3682249" y="2779776"/>
            <a:ext cx="109728" cy="109728"/>
          </a:xfrm>
          <a:prstGeom prst="ellipse">
            <a:avLst/>
          </a:prstGeom>
          <a:solidFill>
            <a:srgbClr val="D982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vent 10: 1958 Cox"/>
          <p:cNvSpPr txBox="1"/>
          <p:nvPr/>
        </p:nvSpPr>
        <p:spPr>
          <a:xfrm>
            <a:off x="3133609" y="2971800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D9822B"/>
                </a:solidFill>
                <a:latin typeface="Helvetica Neue"/>
              </a:rPr>
              <a:t>1958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Cox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Logistic regression</a:t>
            </a:r>
          </a:p>
        </p:txBody>
      </p:sp>
      <p:cxnSp>
        <p:nvCxnSpPr>
          <p:cNvPr id="34" name="Tick 11"/>
          <p:cNvCxnSpPr/>
          <p:nvPr/>
        </p:nvCxnSpPr>
        <p:spPr>
          <a:xfrm flipV="1">
            <a:off x="4071067" y="1746504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ot 11"/>
          <p:cNvSpPr/>
          <p:nvPr/>
        </p:nvSpPr>
        <p:spPr>
          <a:xfrm>
            <a:off x="4016203" y="2779776"/>
            <a:ext cx="109728" cy="109728"/>
          </a:xfrm>
          <a:prstGeom prst="ellipse">
            <a:avLst/>
          </a:prstGeom>
          <a:solidFill>
            <a:srgbClr val="D982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vent 11: 1964 Huber"/>
          <p:cNvSpPr txBox="1"/>
          <p:nvPr/>
        </p:nvSpPr>
        <p:spPr>
          <a:xfrm>
            <a:off x="3467563" y="868680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D9822B"/>
                </a:solidFill>
                <a:latin typeface="Helvetica Neue"/>
              </a:rPr>
              <a:t>1964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Huber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Robust M-estimation</a:t>
            </a:r>
          </a:p>
        </p:txBody>
      </p:sp>
      <p:cxnSp>
        <p:nvCxnSpPr>
          <p:cNvPr id="37" name="Tick 12"/>
          <p:cNvCxnSpPr/>
          <p:nvPr/>
        </p:nvCxnSpPr>
        <p:spPr>
          <a:xfrm>
            <a:off x="4405022" y="2834640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ot 12"/>
          <p:cNvSpPr/>
          <p:nvPr/>
        </p:nvSpPr>
        <p:spPr>
          <a:xfrm>
            <a:off x="4350158" y="2779776"/>
            <a:ext cx="109728" cy="109728"/>
          </a:xfrm>
          <a:prstGeom prst="ellipse">
            <a:avLst/>
          </a:prstGeom>
          <a:solidFill>
            <a:srgbClr val="2A8C8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vent 12: 1964–79 Nadaraya &amp; Watson; Wahba"/>
          <p:cNvSpPr txBox="1"/>
          <p:nvPr/>
        </p:nvSpPr>
        <p:spPr>
          <a:xfrm>
            <a:off x="3801518" y="3950208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2A8C82"/>
                </a:solidFill>
                <a:latin typeface="Helvetica Neue"/>
              </a:rPr>
              <a:t>1964–79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Nadaraya &amp; Watson; Wahba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Kernel and spline smoothers</a:t>
            </a:r>
          </a:p>
        </p:txBody>
      </p:sp>
      <p:cxnSp>
        <p:nvCxnSpPr>
          <p:cNvPr id="40" name="Tick 13"/>
          <p:cNvCxnSpPr/>
          <p:nvPr/>
        </p:nvCxnSpPr>
        <p:spPr>
          <a:xfrm flipV="1">
            <a:off x="4738977" y="2724912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Dot 13"/>
          <p:cNvSpPr/>
          <p:nvPr/>
        </p:nvSpPr>
        <p:spPr>
          <a:xfrm>
            <a:off x="4684113" y="2779776"/>
            <a:ext cx="109728" cy="109728"/>
          </a:xfrm>
          <a:prstGeom prst="ellipse">
            <a:avLst/>
          </a:prstGeom>
          <a:solidFill>
            <a:srgbClr val="D982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vent 13: 1967 / 1980 Huber; White"/>
          <p:cNvSpPr txBox="1"/>
          <p:nvPr/>
        </p:nvSpPr>
        <p:spPr>
          <a:xfrm>
            <a:off x="4135473" y="1847088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D9822B"/>
                </a:solidFill>
                <a:latin typeface="Helvetica Neue"/>
              </a:rPr>
              <a:t>1967 / 1980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Huber; White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Sandwich standard errors</a:t>
            </a:r>
          </a:p>
        </p:txBody>
      </p:sp>
      <p:cxnSp>
        <p:nvCxnSpPr>
          <p:cNvPr id="43" name="Tick 14"/>
          <p:cNvCxnSpPr/>
          <p:nvPr/>
        </p:nvCxnSpPr>
        <p:spPr>
          <a:xfrm>
            <a:off x="5072932" y="2834640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t 14"/>
          <p:cNvSpPr/>
          <p:nvPr/>
        </p:nvSpPr>
        <p:spPr>
          <a:xfrm>
            <a:off x="5018068" y="2779776"/>
            <a:ext cx="109728" cy="109728"/>
          </a:xfrm>
          <a:prstGeom prst="ellipse">
            <a:avLst/>
          </a:prstGeom>
          <a:solidFill>
            <a:srgbClr val="8E3B8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vent 14: 1970 Hoerl &amp; Kennard"/>
          <p:cNvSpPr txBox="1"/>
          <p:nvPr/>
        </p:nvSpPr>
        <p:spPr>
          <a:xfrm>
            <a:off x="4469428" y="2971800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8E3B8C"/>
                </a:solidFill>
                <a:latin typeface="Helvetica Neue"/>
              </a:rPr>
              <a:t>1970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Hoerl &amp; Kennard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Ridge regression</a:t>
            </a:r>
          </a:p>
        </p:txBody>
      </p:sp>
      <p:cxnSp>
        <p:nvCxnSpPr>
          <p:cNvPr id="46" name="Tick 15"/>
          <p:cNvCxnSpPr/>
          <p:nvPr/>
        </p:nvCxnSpPr>
        <p:spPr>
          <a:xfrm flipV="1">
            <a:off x="5406886" y="1746504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ot 15"/>
          <p:cNvSpPr/>
          <p:nvPr/>
        </p:nvSpPr>
        <p:spPr>
          <a:xfrm>
            <a:off x="5352022" y="2779776"/>
            <a:ext cx="109728" cy="109728"/>
          </a:xfrm>
          <a:prstGeom prst="ellipse">
            <a:avLst/>
          </a:prstGeom>
          <a:solidFill>
            <a:srgbClr val="1F3A5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vent 15: 1971–82 Patterson &amp; Thompson; Laird &amp; Ware"/>
          <p:cNvSpPr txBox="1"/>
          <p:nvPr/>
        </p:nvSpPr>
        <p:spPr>
          <a:xfrm>
            <a:off x="4803382" y="868680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F3A5F"/>
                </a:solidFill>
                <a:latin typeface="Helvetica Neue"/>
              </a:rPr>
              <a:t>1971–82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Patterson &amp; Thompson; Laird &amp; Ware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REML; longitudinal random effects</a:t>
            </a:r>
          </a:p>
        </p:txBody>
      </p:sp>
      <p:cxnSp>
        <p:nvCxnSpPr>
          <p:cNvPr id="49" name="Tick 16"/>
          <p:cNvCxnSpPr/>
          <p:nvPr/>
        </p:nvCxnSpPr>
        <p:spPr>
          <a:xfrm>
            <a:off x="5740841" y="2834640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t 16"/>
          <p:cNvSpPr/>
          <p:nvPr/>
        </p:nvSpPr>
        <p:spPr>
          <a:xfrm>
            <a:off x="5685977" y="2779776"/>
            <a:ext cx="109728" cy="109728"/>
          </a:xfrm>
          <a:prstGeom prst="ellipse">
            <a:avLst/>
          </a:prstGeom>
          <a:solidFill>
            <a:srgbClr val="D982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vent 16: 1972 Nelder &amp; Wedderburn"/>
          <p:cNvSpPr txBox="1"/>
          <p:nvPr/>
        </p:nvSpPr>
        <p:spPr>
          <a:xfrm>
            <a:off x="5137337" y="3950208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D9822B"/>
                </a:solidFill>
                <a:latin typeface="Helvetica Neue"/>
              </a:rPr>
              <a:t>1972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Nelder &amp; Wedderburn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Generalized linear models</a:t>
            </a:r>
          </a:p>
        </p:txBody>
      </p:sp>
      <p:cxnSp>
        <p:nvCxnSpPr>
          <p:cNvPr id="52" name="Tick 17"/>
          <p:cNvCxnSpPr/>
          <p:nvPr/>
        </p:nvCxnSpPr>
        <p:spPr>
          <a:xfrm flipV="1">
            <a:off x="6074796" y="2724912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t 17"/>
          <p:cNvSpPr/>
          <p:nvPr/>
        </p:nvSpPr>
        <p:spPr>
          <a:xfrm>
            <a:off x="6019932" y="2779776"/>
            <a:ext cx="109728" cy="109728"/>
          </a:xfrm>
          <a:prstGeom prst="ellipse">
            <a:avLst/>
          </a:prstGeom>
          <a:solidFill>
            <a:srgbClr val="3A3A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vent 17: 1973–74 Akaike"/>
          <p:cNvSpPr txBox="1"/>
          <p:nvPr/>
        </p:nvSpPr>
        <p:spPr>
          <a:xfrm>
            <a:off x="5471292" y="1847088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3A3A3A"/>
                </a:solidFill>
                <a:latin typeface="Helvetica Neue"/>
              </a:rPr>
              <a:t>1973–74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Akaike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AIC model selection</a:t>
            </a:r>
          </a:p>
        </p:txBody>
      </p:sp>
      <p:cxnSp>
        <p:nvCxnSpPr>
          <p:cNvPr id="55" name="Tick 18"/>
          <p:cNvCxnSpPr/>
          <p:nvPr/>
        </p:nvCxnSpPr>
        <p:spPr>
          <a:xfrm>
            <a:off x="6408751" y="2834640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Dot 18"/>
          <p:cNvSpPr/>
          <p:nvPr/>
        </p:nvSpPr>
        <p:spPr>
          <a:xfrm>
            <a:off x="6353887" y="2779776"/>
            <a:ext cx="109728" cy="109728"/>
          </a:xfrm>
          <a:prstGeom prst="ellipse">
            <a:avLst/>
          </a:prstGeom>
          <a:solidFill>
            <a:srgbClr val="6B7F2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vent 18: 1977 Dempster, Laird &amp; Rubin"/>
          <p:cNvSpPr txBox="1"/>
          <p:nvPr/>
        </p:nvSpPr>
        <p:spPr>
          <a:xfrm>
            <a:off x="5805247" y="2971800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6B7F2A"/>
                </a:solidFill>
                <a:latin typeface="Helvetica Neue"/>
              </a:rPr>
              <a:t>1977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Dempster, Laird &amp; Rubin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EM algorithm</a:t>
            </a:r>
          </a:p>
        </p:txBody>
      </p:sp>
      <p:cxnSp>
        <p:nvCxnSpPr>
          <p:cNvPr id="58" name="Tick 19"/>
          <p:cNvCxnSpPr/>
          <p:nvPr/>
        </p:nvCxnSpPr>
        <p:spPr>
          <a:xfrm flipV="1">
            <a:off x="6742706" y="1746504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Dot 19"/>
          <p:cNvSpPr/>
          <p:nvPr/>
        </p:nvSpPr>
        <p:spPr>
          <a:xfrm>
            <a:off x="6687842" y="2779776"/>
            <a:ext cx="109728" cy="109728"/>
          </a:xfrm>
          <a:prstGeom prst="ellipse">
            <a:avLst/>
          </a:prstGeom>
          <a:solidFill>
            <a:srgbClr val="6B7F2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vent 19: 1979 Efron"/>
          <p:cNvSpPr txBox="1"/>
          <p:nvPr/>
        </p:nvSpPr>
        <p:spPr>
          <a:xfrm>
            <a:off x="6139202" y="868680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6B7F2A"/>
                </a:solidFill>
                <a:latin typeface="Helvetica Neue"/>
              </a:rPr>
              <a:t>1979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Efron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Bootstrap</a:t>
            </a:r>
          </a:p>
        </p:txBody>
      </p:sp>
      <p:cxnSp>
        <p:nvCxnSpPr>
          <p:cNvPr id="61" name="Tick 20"/>
          <p:cNvCxnSpPr/>
          <p:nvPr/>
        </p:nvCxnSpPr>
        <p:spPr>
          <a:xfrm>
            <a:off x="7076660" y="2834640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ot 20"/>
          <p:cNvSpPr/>
          <p:nvPr/>
        </p:nvSpPr>
        <p:spPr>
          <a:xfrm>
            <a:off x="7021796" y="2779776"/>
            <a:ext cx="109728" cy="109728"/>
          </a:xfrm>
          <a:prstGeom prst="ellipse">
            <a:avLst/>
          </a:prstGeom>
          <a:solidFill>
            <a:srgbClr val="1F3A5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vent 20: 1986 Liang &amp; Zeger"/>
          <p:cNvSpPr txBox="1"/>
          <p:nvPr/>
        </p:nvSpPr>
        <p:spPr>
          <a:xfrm>
            <a:off x="6473156" y="3950208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F3A5F"/>
                </a:solidFill>
                <a:latin typeface="Helvetica Neue"/>
              </a:rPr>
              <a:t>1986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Liang &amp; Zeger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GEE</a:t>
            </a:r>
          </a:p>
        </p:txBody>
      </p:sp>
      <p:cxnSp>
        <p:nvCxnSpPr>
          <p:cNvPr id="64" name="Tick 21"/>
          <p:cNvCxnSpPr/>
          <p:nvPr/>
        </p:nvCxnSpPr>
        <p:spPr>
          <a:xfrm flipV="1">
            <a:off x="7410615" y="2724912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Dot 21"/>
          <p:cNvSpPr/>
          <p:nvPr/>
        </p:nvSpPr>
        <p:spPr>
          <a:xfrm>
            <a:off x="7355751" y="2779776"/>
            <a:ext cx="109728" cy="109728"/>
          </a:xfrm>
          <a:prstGeom prst="ellipse">
            <a:avLst/>
          </a:prstGeom>
          <a:solidFill>
            <a:srgbClr val="2A8C8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vent 21: 1986 Hastie &amp; Tibshirani"/>
          <p:cNvSpPr txBox="1"/>
          <p:nvPr/>
        </p:nvSpPr>
        <p:spPr>
          <a:xfrm>
            <a:off x="6807111" y="1847088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2A8C82"/>
                </a:solidFill>
                <a:latin typeface="Helvetica Neue"/>
              </a:rPr>
              <a:t>1986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Hastie &amp; Tibshirani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Generalized additive models</a:t>
            </a:r>
          </a:p>
        </p:txBody>
      </p:sp>
      <p:cxnSp>
        <p:nvCxnSpPr>
          <p:cNvPr id="67" name="Tick 22"/>
          <p:cNvCxnSpPr/>
          <p:nvPr/>
        </p:nvCxnSpPr>
        <p:spPr>
          <a:xfrm>
            <a:off x="7744570" y="2834640"/>
            <a:ext cx="0" cy="109728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Dot 22"/>
          <p:cNvSpPr/>
          <p:nvPr/>
        </p:nvSpPr>
        <p:spPr>
          <a:xfrm>
            <a:off x="7689706" y="2779776"/>
            <a:ext cx="109728" cy="109728"/>
          </a:xfrm>
          <a:prstGeom prst="ellipse">
            <a:avLst/>
          </a:prstGeom>
          <a:solidFill>
            <a:srgbClr val="2A8C8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vent 22: 1995 Cortes &amp; Vapnik"/>
          <p:cNvSpPr txBox="1"/>
          <p:nvPr/>
        </p:nvSpPr>
        <p:spPr>
          <a:xfrm>
            <a:off x="7141066" y="2971800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2A8C82"/>
                </a:solidFill>
                <a:latin typeface="Helvetica Neue"/>
              </a:rPr>
              <a:t>1995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Cortes &amp; Vapnik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Support vector machines; kernel trick</a:t>
            </a:r>
          </a:p>
        </p:txBody>
      </p:sp>
      <p:cxnSp>
        <p:nvCxnSpPr>
          <p:cNvPr id="70" name="Tick 23"/>
          <p:cNvCxnSpPr/>
          <p:nvPr/>
        </p:nvCxnSpPr>
        <p:spPr>
          <a:xfrm flipV="1">
            <a:off x="8078525" y="1746504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ot 23"/>
          <p:cNvSpPr/>
          <p:nvPr/>
        </p:nvSpPr>
        <p:spPr>
          <a:xfrm>
            <a:off x="8023661" y="2779776"/>
            <a:ext cx="109728" cy="109728"/>
          </a:xfrm>
          <a:prstGeom prst="ellipse">
            <a:avLst/>
          </a:prstGeom>
          <a:solidFill>
            <a:srgbClr val="8E3B8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vent 23: 1996 Tibshirani"/>
          <p:cNvSpPr txBox="1"/>
          <p:nvPr/>
        </p:nvSpPr>
        <p:spPr>
          <a:xfrm>
            <a:off x="7475021" y="868680"/>
            <a:ext cx="1207008" cy="85039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8E3B8C"/>
                </a:solidFill>
                <a:latin typeface="Helvetica Neue"/>
              </a:rPr>
              <a:t>1996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Tibshirani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Lasso</a:t>
            </a:r>
          </a:p>
        </p:txBody>
      </p:sp>
      <p:cxnSp>
        <p:nvCxnSpPr>
          <p:cNvPr id="73" name="Tick 24"/>
          <p:cNvCxnSpPr/>
          <p:nvPr/>
        </p:nvCxnSpPr>
        <p:spPr>
          <a:xfrm>
            <a:off x="8412480" y="2834640"/>
            <a:ext cx="0" cy="1088136"/>
          </a:xfrm>
          <a:prstGeom prst="line">
            <a:avLst/>
          </a:prstGeom>
          <a:ln w="9525">
            <a:solidFill>
              <a:srgbClr val="B8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ot 24"/>
          <p:cNvSpPr/>
          <p:nvPr/>
        </p:nvSpPr>
        <p:spPr>
          <a:xfrm>
            <a:off x="8357615" y="2779776"/>
            <a:ext cx="109728" cy="109728"/>
          </a:xfrm>
          <a:prstGeom prst="ellipse">
            <a:avLst/>
          </a:prstGeom>
          <a:solidFill>
            <a:srgbClr val="2A8C8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vent 24: 2006 Rasmussen &amp; Williams"/>
          <p:cNvSpPr txBox="1"/>
          <p:nvPr/>
        </p:nvSpPr>
        <p:spPr>
          <a:xfrm>
            <a:off x="7808975" y="3950208"/>
            <a:ext cx="1207008" cy="850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2A8C82"/>
                </a:solidFill>
                <a:latin typeface="Helvetica Neue"/>
              </a:rPr>
              <a:t>2006</a:t>
            </a:r>
          </a:p>
          <a:p>
            <a:pPr algn="ctr">
              <a:spcAft>
                <a:spcPts val="100"/>
              </a:spcAft>
            </a:pPr>
            <a:r>
              <a:rPr sz="900" b="1">
                <a:solidFill>
                  <a:srgbClr val="1A1A1A"/>
                </a:solidFill>
                <a:latin typeface="Helvetica Neue"/>
              </a:rPr>
              <a:t>Rasmussen &amp; Williams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5A5A5A"/>
                </a:solidFill>
                <a:latin typeface="Helvetica Neue Light"/>
              </a:rPr>
              <a:t>Gaussian processes</a:t>
            </a:r>
          </a:p>
        </p:txBody>
      </p:sp>
      <p:sp>
        <p:nvSpPr>
          <p:cNvPr id="76" name="Legend Foundations"/>
          <p:cNvSpPr/>
          <p:nvPr/>
        </p:nvSpPr>
        <p:spPr>
          <a:xfrm>
            <a:off x="365760" y="4910328"/>
            <a:ext cx="100584" cy="100584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2064" y="4864608"/>
            <a:ext cx="826617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A5A5A"/>
                </a:solidFill>
                <a:latin typeface="Helvetica Neue Light"/>
              </a:rPr>
              <a:t>Foundations</a:t>
            </a:r>
          </a:p>
        </p:txBody>
      </p:sp>
      <p:sp>
        <p:nvSpPr>
          <p:cNvPr id="78" name="Legend Dependence"/>
          <p:cNvSpPr/>
          <p:nvPr/>
        </p:nvSpPr>
        <p:spPr>
          <a:xfrm>
            <a:off x="1521561" y="4910328"/>
            <a:ext cx="100584" cy="10058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67865" y="4864608"/>
            <a:ext cx="7680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A5A5A"/>
                </a:solidFill>
                <a:latin typeface="Helvetica Neue Light"/>
              </a:rPr>
              <a:t>Dependence</a:t>
            </a:r>
          </a:p>
        </p:txBody>
      </p:sp>
      <p:sp>
        <p:nvSpPr>
          <p:cNvPr id="80" name="Legend Generalized &amp; robust"/>
          <p:cNvSpPr/>
          <p:nvPr/>
        </p:nvSpPr>
        <p:spPr>
          <a:xfrm>
            <a:off x="2618841" y="4910328"/>
            <a:ext cx="100584" cy="100584"/>
          </a:xfrm>
          <a:prstGeom prst="ellips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65145" y="4864608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A5A5A"/>
                </a:solidFill>
                <a:latin typeface="Helvetica Neue Light"/>
              </a:rPr>
              <a:t>Generalized &amp; robust</a:t>
            </a:r>
          </a:p>
        </p:txBody>
      </p:sp>
      <p:sp>
        <p:nvSpPr>
          <p:cNvPr id="82" name="Legend Resampling &amp; computation"/>
          <p:cNvSpPr/>
          <p:nvPr/>
        </p:nvSpPr>
        <p:spPr>
          <a:xfrm>
            <a:off x="4301337" y="4910328"/>
            <a:ext cx="100584" cy="100584"/>
          </a:xfrm>
          <a:prstGeom prst="ellipse">
            <a:avLst/>
          </a:prstGeom>
          <a:solidFill>
            <a:srgbClr val="6B7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47641" y="4864608"/>
            <a:ext cx="158739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A5A5A"/>
                </a:solidFill>
                <a:latin typeface="Helvetica Neue Light"/>
              </a:rPr>
              <a:t>Resampling &amp; computation</a:t>
            </a:r>
          </a:p>
        </p:txBody>
      </p:sp>
      <p:sp>
        <p:nvSpPr>
          <p:cNvPr id="84" name="Legend Smoothers &amp; kernels"/>
          <p:cNvSpPr/>
          <p:nvPr/>
        </p:nvSpPr>
        <p:spPr>
          <a:xfrm>
            <a:off x="6217920" y="4910328"/>
            <a:ext cx="100584" cy="100584"/>
          </a:xfrm>
          <a:prstGeom prst="ellipse">
            <a:avLst/>
          </a:prstGeom>
          <a:solidFill>
            <a:srgbClr val="2A8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64224" y="4864608"/>
            <a:ext cx="129479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A5A5A"/>
                </a:solidFill>
                <a:latin typeface="Helvetica Neue Light"/>
              </a:rPr>
              <a:t>Smoothers &amp; kernels</a:t>
            </a:r>
          </a:p>
        </p:txBody>
      </p:sp>
      <p:sp>
        <p:nvSpPr>
          <p:cNvPr id="86" name="Legend Shrinkage"/>
          <p:cNvSpPr/>
          <p:nvPr/>
        </p:nvSpPr>
        <p:spPr>
          <a:xfrm>
            <a:off x="7841894" y="4910328"/>
            <a:ext cx="100584" cy="100584"/>
          </a:xfrm>
          <a:prstGeom prst="ellipse">
            <a:avLst/>
          </a:prstGeom>
          <a:solidFill>
            <a:srgbClr val="8E3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88198" y="4864608"/>
            <a:ext cx="70957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5A5A5A"/>
                </a:solidFill>
                <a:latin typeface="Helvetica Neue Light"/>
              </a:rPr>
              <a:t>Shrinkage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Foundations: fit, test, choose</a:t>
            </a:r>
          </a:p>
        </p:txBody>
      </p:sp>
      <p:sp>
        <p:nvSpPr>
          <p:cNvPr id="3" name="Card 1: Least squares"/>
          <p:cNvSpPr/>
          <p:nvPr/>
        </p:nvSpPr>
        <p:spPr>
          <a:xfrm>
            <a:off x="365760" y="896112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text 1"/>
          <p:cNvSpPr txBox="1"/>
          <p:nvPr/>
        </p:nvSpPr>
        <p:spPr>
          <a:xfrm>
            <a:off x="493776" y="996696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A3A3A"/>
                </a:solidFill>
                <a:latin typeface="Helvetica Neue"/>
              </a:rPr>
              <a:t>1805–09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Legendre; Gauss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Least squares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Choose β to minimize the sum of squared residuals.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Gauss tied it to normal errors; Gauss–Markov: best linear unbiased if errors are uncorrelated with equal variance.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A3A3A"/>
                </a:solidFill>
                <a:latin typeface="Cambria Math"/>
              </a:rPr>
              <a:t>β̂ = (XᵀX)⁻¹Xᵀy</a:t>
            </a:r>
          </a:p>
        </p:txBody>
      </p:sp>
      <p:sp>
        <p:nvSpPr>
          <p:cNvPr id="5" name="Card cite 1"/>
          <p:cNvSpPr txBox="1"/>
          <p:nvPr/>
        </p:nvSpPr>
        <p:spPr>
          <a:xfrm>
            <a:off x="493776" y="2432303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Legendre 1805; Gauss 1809</a:t>
            </a:r>
          </a:p>
        </p:txBody>
      </p:sp>
      <p:sp>
        <p:nvSpPr>
          <p:cNvPr id="6" name="Card 2: Regression and multiple regression"/>
          <p:cNvSpPr/>
          <p:nvPr/>
        </p:nvSpPr>
        <p:spPr>
          <a:xfrm>
            <a:off x="3215639" y="896112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ext 2"/>
          <p:cNvSpPr txBox="1"/>
          <p:nvPr/>
        </p:nvSpPr>
        <p:spPr>
          <a:xfrm>
            <a:off x="3343655" y="996696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A3A3A"/>
                </a:solidFill>
                <a:latin typeface="Helvetica Neue"/>
              </a:rPr>
              <a:t>1886–97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Galton; Yule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Regression and multiple regression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Galton: offspring heights “regress” toward the mean.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Yule: several predictors at once; each partial coefficient holds the others fixed.</a:t>
            </a:r>
          </a:p>
        </p:txBody>
      </p:sp>
      <p:sp>
        <p:nvSpPr>
          <p:cNvPr id="8" name="Card cite 2"/>
          <p:cNvSpPr txBox="1"/>
          <p:nvPr/>
        </p:nvSpPr>
        <p:spPr>
          <a:xfrm>
            <a:off x="3343655" y="2432303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Galton 1886, J Anthropol Inst; Yule 1897, Proc R Soc</a:t>
            </a:r>
          </a:p>
        </p:txBody>
      </p:sp>
      <p:sp>
        <p:nvSpPr>
          <p:cNvPr id="9" name="Card 3: t distribution"/>
          <p:cNvSpPr/>
          <p:nvPr/>
        </p:nvSpPr>
        <p:spPr>
          <a:xfrm>
            <a:off x="6065520" y="896112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text 3"/>
          <p:cNvSpPr txBox="1"/>
          <p:nvPr/>
        </p:nvSpPr>
        <p:spPr>
          <a:xfrm>
            <a:off x="6193535" y="996696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A3A3A"/>
                </a:solidFill>
                <a:latin typeface="Helvetica Neue"/>
              </a:rPr>
              <a:t>1908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Gosset (“Student”)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t distribution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Exact distribution of an estimate divided by its estimated SE in small samples.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Basis of every coefficient test.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A3A3A"/>
                </a:solidFill>
                <a:latin typeface="Cambria Math"/>
              </a:rPr>
              <a:t>tⱼ = β̂ⱼ / SEⱼ ~ t(df)</a:t>
            </a:r>
          </a:p>
        </p:txBody>
      </p:sp>
      <p:sp>
        <p:nvSpPr>
          <p:cNvPr id="11" name="Card cite 3"/>
          <p:cNvSpPr txBox="1"/>
          <p:nvPr/>
        </p:nvSpPr>
        <p:spPr>
          <a:xfrm>
            <a:off x="6193535" y="2432303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Student 1908, Biometrika</a:t>
            </a:r>
          </a:p>
        </p:txBody>
      </p:sp>
      <p:sp>
        <p:nvSpPr>
          <p:cNvPr id="12" name="Card 4: Likelihood, ANOVA and the F test"/>
          <p:cNvSpPr/>
          <p:nvPr/>
        </p:nvSpPr>
        <p:spPr>
          <a:xfrm>
            <a:off x="365760" y="2871215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text 4"/>
          <p:cNvSpPr txBox="1"/>
          <p:nvPr/>
        </p:nvSpPr>
        <p:spPr>
          <a:xfrm>
            <a:off x="493776" y="2971799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A3A3A"/>
                </a:solidFill>
                <a:latin typeface="Helvetica Neue"/>
              </a:rPr>
              <a:t>1922–25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Fisher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Likelihood, ANOVA and the F test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Maximum likelihood estimation; partitioning sums of squares (ANOVA); degrees of freedom; F tests for sets of terms; randomized designs.</a:t>
            </a:r>
          </a:p>
        </p:txBody>
      </p:sp>
      <p:sp>
        <p:nvSpPr>
          <p:cNvPr id="14" name="Card cite 4"/>
          <p:cNvSpPr txBox="1"/>
          <p:nvPr/>
        </p:nvSpPr>
        <p:spPr>
          <a:xfrm>
            <a:off x="493776" y="4407407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Fisher 1922, Phil Trans R Soc A; Fisher 1925, Statistical Methods for Research Workers</a:t>
            </a:r>
          </a:p>
        </p:txBody>
      </p:sp>
      <p:sp>
        <p:nvSpPr>
          <p:cNvPr id="15" name="Card 5: AIC and model selection"/>
          <p:cNvSpPr/>
          <p:nvPr/>
        </p:nvSpPr>
        <p:spPr>
          <a:xfrm>
            <a:off x="3215639" y="2871215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text 5"/>
          <p:cNvSpPr txBox="1"/>
          <p:nvPr/>
        </p:nvSpPr>
        <p:spPr>
          <a:xfrm>
            <a:off x="3343655" y="2971799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3A3A3A"/>
                </a:solidFill>
                <a:latin typeface="Helvetica Neue"/>
              </a:rPr>
              <a:t>1973–74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Akaike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AIC and model selection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Choose among models by estimated out-of-sample (Kullback–Leibler) loss rather than by p values.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Opened information criteria and cross-validation.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A3A3A"/>
                </a:solidFill>
                <a:latin typeface="Cambria Math"/>
              </a:rPr>
              <a:t>AIC = −2 log L + 2k</a:t>
            </a:r>
          </a:p>
        </p:txBody>
      </p:sp>
      <p:sp>
        <p:nvSpPr>
          <p:cNvPr id="17" name="Card cite 5"/>
          <p:cNvSpPr txBox="1"/>
          <p:nvPr/>
        </p:nvSpPr>
        <p:spPr>
          <a:xfrm>
            <a:off x="3343655" y="4407407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Akaike 1973, 2nd Int Symp Inf Theory; Akaike 1974, IEEE Trans Autom Control</a:t>
            </a:r>
          </a:p>
        </p:txBody>
      </p:sp>
      <p:sp>
        <p:nvSpPr>
          <p:cNvPr id="18" name="Thread card"/>
          <p:cNvSpPr/>
          <p:nvPr/>
        </p:nvSpPr>
        <p:spPr>
          <a:xfrm>
            <a:off x="6065520" y="2871215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hread text"/>
          <p:cNvSpPr txBox="1"/>
          <p:nvPr/>
        </p:nvSpPr>
        <p:spPr>
          <a:xfrm>
            <a:off x="6211824" y="2999232"/>
            <a:ext cx="2420112" cy="1581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3A3A3A"/>
                </a:solidFill>
                <a:latin typeface="Helvetica Neue"/>
              </a:rPr>
              <a:t>The thread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Helvetica Neue Light"/>
              </a:rPr>
              <a:t>The core machinery: a fitting criterion (least squares, likelihood), sampling distributions for tests (t, F), and a rule for choosing among models (AIC).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Dependence: correlated and unequal errors</a:t>
            </a:r>
          </a:p>
        </p:txBody>
      </p:sp>
      <p:sp>
        <p:nvSpPr>
          <p:cNvPr id="3" name="Card 1: Generalized least squares (GLS)"/>
          <p:cNvSpPr/>
          <p:nvPr/>
        </p:nvSpPr>
        <p:spPr>
          <a:xfrm>
            <a:off x="365760" y="896112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EB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text 1"/>
          <p:cNvSpPr txBox="1"/>
          <p:nvPr/>
        </p:nvSpPr>
        <p:spPr>
          <a:xfrm>
            <a:off x="493776" y="996696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3A5F"/>
                </a:solidFill>
                <a:latin typeface="Helvetica Neue"/>
              </a:rPr>
              <a:t>1935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Aitken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Generalized least squares (GLS)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If errors are correlated or unequal in variance, Cov(e) = σ²Ω, weight by Ω⁻¹ to recover the best linear unbiased estimate.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Weighted least squares is the diagonal-Ω case.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F3A5F"/>
                </a:solidFill>
                <a:latin typeface="Cambria Math"/>
              </a:rPr>
              <a:t>β̂ = (XᵀΩ⁻¹X)⁻¹XᵀΩ⁻¹y</a:t>
            </a:r>
          </a:p>
        </p:txBody>
      </p:sp>
      <p:sp>
        <p:nvSpPr>
          <p:cNvPr id="5" name="Card cite 1"/>
          <p:cNvSpPr txBox="1"/>
          <p:nvPr/>
        </p:nvSpPr>
        <p:spPr>
          <a:xfrm>
            <a:off x="493776" y="2432303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Aitken 1935, Proc R Soc Edinb</a:t>
            </a:r>
          </a:p>
        </p:txBody>
      </p:sp>
      <p:sp>
        <p:nvSpPr>
          <p:cNvPr id="6" name="Card 2: Autocorrelation and ARIMA"/>
          <p:cNvSpPr/>
          <p:nvPr/>
        </p:nvSpPr>
        <p:spPr>
          <a:xfrm>
            <a:off x="3215639" y="896112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EB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ext 2"/>
          <p:cNvSpPr txBox="1"/>
          <p:nvPr/>
        </p:nvSpPr>
        <p:spPr>
          <a:xfrm>
            <a:off x="3343655" y="996696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3A5F"/>
                </a:solidFill>
                <a:latin typeface="Helvetica Neue"/>
              </a:rPr>
              <a:t>1949–70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Durbin &amp; Watson; Box &amp; Jenkins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Autocorrelation and ARIMA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Durbin–Watson: test for AR(1) residuals. Cochrane–Orcutt: re-fit on transformed data.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Box &amp; Jenkins: ARIMA models; ancestors of fMRI prewhitening.</a:t>
            </a:r>
          </a:p>
        </p:txBody>
      </p:sp>
      <p:sp>
        <p:nvSpPr>
          <p:cNvPr id="8" name="Card cite 2"/>
          <p:cNvSpPr txBox="1"/>
          <p:nvPr/>
        </p:nvSpPr>
        <p:spPr>
          <a:xfrm>
            <a:off x="3343655" y="2432303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Cochrane &amp; Orcutt 1949; Durbin &amp; Watson 1950–51; Box &amp; Jenkins 1970</a:t>
            </a:r>
          </a:p>
        </p:txBody>
      </p:sp>
      <p:sp>
        <p:nvSpPr>
          <p:cNvPr id="9" name="Card 3: Mixed models"/>
          <p:cNvSpPr/>
          <p:nvPr/>
        </p:nvSpPr>
        <p:spPr>
          <a:xfrm>
            <a:off x="6065520" y="896112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EB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text 3"/>
          <p:cNvSpPr txBox="1"/>
          <p:nvPr/>
        </p:nvSpPr>
        <p:spPr>
          <a:xfrm>
            <a:off x="6193535" y="996696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3A5F"/>
                </a:solidFill>
                <a:latin typeface="Helvetica Neue"/>
              </a:rPr>
              <a:t>1950–53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Henderson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Mixed models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Fixed and random effects estimated together; best linear unbiased prediction (BLUP) of random effects; variance components.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Developed for animal breeding.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F3A5F"/>
                </a:solidFill>
                <a:latin typeface="Cambria Math"/>
              </a:rPr>
              <a:t>y = Xβ + Zb + e</a:t>
            </a:r>
          </a:p>
        </p:txBody>
      </p:sp>
      <p:sp>
        <p:nvSpPr>
          <p:cNvPr id="11" name="Card cite 3"/>
          <p:cNvSpPr txBox="1"/>
          <p:nvPr/>
        </p:nvSpPr>
        <p:spPr>
          <a:xfrm>
            <a:off x="6193535" y="2432303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Henderson 1953, Biometrics</a:t>
            </a:r>
          </a:p>
        </p:txBody>
      </p:sp>
      <p:sp>
        <p:nvSpPr>
          <p:cNvPr id="12" name="Card 4: REML and longitudinal models"/>
          <p:cNvSpPr/>
          <p:nvPr/>
        </p:nvSpPr>
        <p:spPr>
          <a:xfrm>
            <a:off x="365760" y="2871215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EB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text 4"/>
          <p:cNvSpPr txBox="1"/>
          <p:nvPr/>
        </p:nvSpPr>
        <p:spPr>
          <a:xfrm>
            <a:off x="493776" y="2971799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3A5F"/>
                </a:solidFill>
                <a:latin typeface="Helvetica Neue"/>
              </a:rPr>
              <a:t>1971–82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Patterson &amp; Thompson; Laird &amp; Ware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REML and longitudinal models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REML estimates variance components without the bias from also fitting fixed effects.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Laird &amp; Ware: per-subject random effects for repeated measures, fit by EM.</a:t>
            </a:r>
          </a:p>
        </p:txBody>
      </p:sp>
      <p:sp>
        <p:nvSpPr>
          <p:cNvPr id="14" name="Card cite 4"/>
          <p:cNvSpPr txBox="1"/>
          <p:nvPr/>
        </p:nvSpPr>
        <p:spPr>
          <a:xfrm>
            <a:off x="493776" y="4407407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Patterson &amp; Thompson 1971, Biometrika; Laird &amp; Ware 1982, Biometrics</a:t>
            </a:r>
          </a:p>
        </p:txBody>
      </p:sp>
      <p:sp>
        <p:nvSpPr>
          <p:cNvPr id="15" name="Card 5: Generalized estimating equations (GEE)"/>
          <p:cNvSpPr/>
          <p:nvPr/>
        </p:nvSpPr>
        <p:spPr>
          <a:xfrm>
            <a:off x="3215639" y="2871215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EB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text 5"/>
          <p:cNvSpPr txBox="1"/>
          <p:nvPr/>
        </p:nvSpPr>
        <p:spPr>
          <a:xfrm>
            <a:off x="3343655" y="2971799"/>
            <a:ext cx="2456688" cy="1426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3A5F"/>
                </a:solidFill>
                <a:latin typeface="Helvetica Neue"/>
              </a:rPr>
              <a:t>1986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Liang &amp; Zeger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Generalized estimating equations (GEE)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Specify the mean and a working within-cluster correlation; the sandwich keeps SEs valid if that guess is wrong.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Gives population-averaged effects.</a:t>
            </a:r>
          </a:p>
        </p:txBody>
      </p:sp>
      <p:sp>
        <p:nvSpPr>
          <p:cNvPr id="17" name="Card cite 5"/>
          <p:cNvSpPr txBox="1"/>
          <p:nvPr/>
        </p:nvSpPr>
        <p:spPr>
          <a:xfrm>
            <a:off x="3343655" y="4407407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Liang &amp; Zeger 1986, Biometrika; Zeger &amp; Liang 1986, Biometrics</a:t>
            </a:r>
          </a:p>
        </p:txBody>
      </p:sp>
      <p:sp>
        <p:nvSpPr>
          <p:cNvPr id="18" name="Thread card"/>
          <p:cNvSpPr/>
          <p:nvPr/>
        </p:nvSpPr>
        <p:spPr>
          <a:xfrm>
            <a:off x="6065520" y="2871215"/>
            <a:ext cx="2712719" cy="183794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hread text"/>
          <p:cNvSpPr txBox="1"/>
          <p:nvPr/>
        </p:nvSpPr>
        <p:spPr>
          <a:xfrm>
            <a:off x="6211824" y="2999232"/>
            <a:ext cx="2420112" cy="1581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3A5F"/>
                </a:solidFill>
                <a:latin typeface="Helvetica Neue"/>
              </a:rPr>
              <a:t>The thread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Helvetica Neue Light"/>
              </a:rPr>
              <a:t>One idea throughout: model the error covariance (GLS, mixed models) or tolerate a misspecified one (GEE, sandwich SEs). Family-clustered CR1 belongs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Generalized and robust models</a:t>
            </a:r>
          </a:p>
        </p:txBody>
      </p:sp>
      <p:sp>
        <p:nvSpPr>
          <p:cNvPr id="3" name="Card 1: Logistic regression"/>
          <p:cNvSpPr/>
          <p:nvPr/>
        </p:nvSpPr>
        <p:spPr>
          <a:xfrm>
            <a:off x="365760" y="896112"/>
            <a:ext cx="4137659" cy="1504188"/>
          </a:xfrm>
          <a:prstGeom prst="roundRect">
            <a:avLst>
              <a:gd name="adj" fmla="val 5000"/>
            </a:avLst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text 1"/>
          <p:cNvSpPr txBox="1"/>
          <p:nvPr/>
        </p:nvSpPr>
        <p:spPr>
          <a:xfrm>
            <a:off x="493776" y="996696"/>
            <a:ext cx="3881627" cy="1092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9822B"/>
                </a:solidFill>
                <a:latin typeface="Helvetica Neue"/>
              </a:rPr>
              <a:t>1958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Cox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Logistic regression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Model the log-odds of a binary outcome as linear in x.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The “logit” is Berkson’s (1944).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D9822B"/>
                </a:solidFill>
                <a:latin typeface="Cambria Math"/>
              </a:rPr>
              <a:t>log[p / (1 − p)] = xᵀβ</a:t>
            </a:r>
          </a:p>
        </p:txBody>
      </p:sp>
      <p:sp>
        <p:nvSpPr>
          <p:cNvPr id="5" name="Card cite 1"/>
          <p:cNvSpPr txBox="1"/>
          <p:nvPr/>
        </p:nvSpPr>
        <p:spPr>
          <a:xfrm>
            <a:off x="493776" y="2098548"/>
            <a:ext cx="3881627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Cox 1958, JRSS B; Berkson 1944, JASA</a:t>
            </a:r>
          </a:p>
        </p:txBody>
      </p:sp>
      <p:sp>
        <p:nvSpPr>
          <p:cNvPr id="6" name="Card 2: Robust M-estimation"/>
          <p:cNvSpPr/>
          <p:nvPr/>
        </p:nvSpPr>
        <p:spPr>
          <a:xfrm>
            <a:off x="4640580" y="896112"/>
            <a:ext cx="4137659" cy="1504188"/>
          </a:xfrm>
          <a:prstGeom prst="roundRect">
            <a:avLst>
              <a:gd name="adj" fmla="val 5000"/>
            </a:avLst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ext 2"/>
          <p:cNvSpPr txBox="1"/>
          <p:nvPr/>
        </p:nvSpPr>
        <p:spPr>
          <a:xfrm>
            <a:off x="4768596" y="996696"/>
            <a:ext cx="3881627" cy="1092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9822B"/>
                </a:solidFill>
                <a:latin typeface="Helvetica Neue"/>
              </a:rPr>
              <a:t>1964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Huber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Robust M-estimation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Minimize Σρ(rᵢ/s) with ρ quadratic near 0 and linear in the tails, so each point’s influence is bounded.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Regression version 1973; Tukey bisquare 1974.</a:t>
            </a:r>
          </a:p>
        </p:txBody>
      </p:sp>
      <p:sp>
        <p:nvSpPr>
          <p:cNvPr id="8" name="Card cite 2"/>
          <p:cNvSpPr txBox="1"/>
          <p:nvPr/>
        </p:nvSpPr>
        <p:spPr>
          <a:xfrm>
            <a:off x="4768596" y="2098548"/>
            <a:ext cx="3881627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Huber 1964, Ann Math Stat; Huber 1973, Ann Stat</a:t>
            </a:r>
          </a:p>
        </p:txBody>
      </p:sp>
      <p:sp>
        <p:nvSpPr>
          <p:cNvPr id="9" name="Card 3: Sandwich standard errors"/>
          <p:cNvSpPr/>
          <p:nvPr/>
        </p:nvSpPr>
        <p:spPr>
          <a:xfrm>
            <a:off x="365760" y="2537460"/>
            <a:ext cx="4137659" cy="1504188"/>
          </a:xfrm>
          <a:prstGeom prst="roundRect">
            <a:avLst>
              <a:gd name="adj" fmla="val 5000"/>
            </a:avLst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text 3"/>
          <p:cNvSpPr txBox="1"/>
          <p:nvPr/>
        </p:nvSpPr>
        <p:spPr>
          <a:xfrm>
            <a:off x="493776" y="2638044"/>
            <a:ext cx="3881627" cy="1092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9822B"/>
                </a:solidFill>
                <a:latin typeface="Helvetica Neue"/>
              </a:rPr>
              <a:t>1967 / 1980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Huber; White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Sandwich standard errors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Variance of an estimating-equation solution, valid even when the variance model is wrong.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White: heteroskedasticity-consistent SEs for OLS.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D9822B"/>
                </a:solidFill>
                <a:latin typeface="Cambria Math"/>
              </a:rPr>
              <a:t>Var(β̂) = A⁻¹BA⁻¹</a:t>
            </a:r>
          </a:p>
        </p:txBody>
      </p:sp>
      <p:sp>
        <p:nvSpPr>
          <p:cNvPr id="11" name="Card cite 3"/>
          <p:cNvSpPr txBox="1"/>
          <p:nvPr/>
        </p:nvSpPr>
        <p:spPr>
          <a:xfrm>
            <a:off x="493776" y="3739896"/>
            <a:ext cx="3881627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Huber 1967, Proc Berkeley Symp; White 1980, Econometrica</a:t>
            </a:r>
          </a:p>
        </p:txBody>
      </p:sp>
      <p:sp>
        <p:nvSpPr>
          <p:cNvPr id="12" name="Card 4: Generalized linear models (GLMs)"/>
          <p:cNvSpPr/>
          <p:nvPr/>
        </p:nvSpPr>
        <p:spPr>
          <a:xfrm>
            <a:off x="4640580" y="2537460"/>
            <a:ext cx="4137659" cy="1504188"/>
          </a:xfrm>
          <a:prstGeom prst="roundRect">
            <a:avLst>
              <a:gd name="adj" fmla="val 5000"/>
            </a:avLst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text 4"/>
          <p:cNvSpPr txBox="1"/>
          <p:nvPr/>
        </p:nvSpPr>
        <p:spPr>
          <a:xfrm>
            <a:off x="4768596" y="2638044"/>
            <a:ext cx="3881627" cy="1092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D9822B"/>
                </a:solidFill>
                <a:latin typeface="Helvetica Neue"/>
              </a:rPr>
              <a:t>1972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Nelder &amp; Wedderburn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Generalized linear models (GLMs)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A link function g and an exponential-family outcome unify linear, logistic, Poisson and gamma models.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One fitting algorithm (IRLS) for all of them.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D9822B"/>
                </a:solidFill>
                <a:latin typeface="Cambria Math"/>
              </a:rPr>
              <a:t>g(E[y]) = xᵀβ</a:t>
            </a:r>
          </a:p>
        </p:txBody>
      </p:sp>
      <p:sp>
        <p:nvSpPr>
          <p:cNvPr id="14" name="Card cite 4"/>
          <p:cNvSpPr txBox="1"/>
          <p:nvPr/>
        </p:nvSpPr>
        <p:spPr>
          <a:xfrm>
            <a:off x="4768596" y="3739896"/>
            <a:ext cx="3881627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Nelder &amp; Wedderburn 1972, JRSS A</a:t>
            </a:r>
          </a:p>
        </p:txBody>
      </p:sp>
      <p:sp>
        <p:nvSpPr>
          <p:cNvPr id="15" name="Thread strip"/>
          <p:cNvSpPr/>
          <p:nvPr/>
        </p:nvSpPr>
        <p:spPr>
          <a:xfrm>
            <a:off x="365760" y="4178808"/>
            <a:ext cx="84124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8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hread text"/>
          <p:cNvSpPr txBox="1"/>
          <p:nvPr/>
        </p:nvSpPr>
        <p:spPr>
          <a:xfrm>
            <a:off x="512064" y="4206240"/>
            <a:ext cx="811987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D9822B"/>
                </a:solidFill>
                <a:latin typeface="Helvetica Neue"/>
              </a:rPr>
              <a:t>The thread  </a:t>
            </a:r>
            <a:r>
              <a:rPr sz="1050" b="0">
                <a:solidFill>
                  <a:srgbClr val="1A1A1A"/>
                </a:solidFill>
                <a:latin typeface="Helvetica Neue Light"/>
              </a:rPr>
              <a:t>Two separate relaxations of the normal linear model: GLMs change the outcome distribution and link; robust methods bound the influence of bad points and protect the 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Resampling and computation</a:t>
            </a:r>
          </a:p>
        </p:txBody>
      </p:sp>
      <p:sp>
        <p:nvSpPr>
          <p:cNvPr id="3" name="Card 1: Permutation tests"/>
          <p:cNvSpPr/>
          <p:nvPr/>
        </p:nvSpPr>
        <p:spPr>
          <a:xfrm>
            <a:off x="365760" y="896112"/>
            <a:ext cx="2712719" cy="3145536"/>
          </a:xfrm>
          <a:prstGeom prst="roundRect">
            <a:avLst>
              <a:gd name="adj" fmla="val 5000"/>
            </a:avLst>
          </a:prstGeom>
          <a:solidFill>
            <a:srgbClr val="F1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text 1"/>
          <p:cNvSpPr txBox="1"/>
          <p:nvPr/>
        </p:nvSpPr>
        <p:spPr>
          <a:xfrm>
            <a:off x="493776" y="996696"/>
            <a:ext cx="2456688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7F2A"/>
                </a:solidFill>
                <a:latin typeface="Helvetica Neue"/>
              </a:rPr>
              <a:t>1935–37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Fisher; Pitman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Helvetica Neue"/>
              </a:rPr>
              <a:t>Permutation tests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Build the null distribution by shuffling labels (or residuals) and recomputing the statistic.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Exact under exchangeability; no normality needed. Basis of max-statistic FWER control in imaging.</a:t>
            </a:r>
          </a:p>
        </p:txBody>
      </p:sp>
      <p:sp>
        <p:nvSpPr>
          <p:cNvPr id="5" name="Card cite 1"/>
          <p:cNvSpPr txBox="1"/>
          <p:nvPr/>
        </p:nvSpPr>
        <p:spPr>
          <a:xfrm>
            <a:off x="493776" y="3739896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Fisher 1935, The Design of Experiments; Pitman 1937, JRSS Suppl</a:t>
            </a:r>
          </a:p>
        </p:txBody>
      </p:sp>
      <p:sp>
        <p:nvSpPr>
          <p:cNvPr id="6" name="Card 2: EM algorithm"/>
          <p:cNvSpPr/>
          <p:nvPr/>
        </p:nvSpPr>
        <p:spPr>
          <a:xfrm>
            <a:off x="3215639" y="896112"/>
            <a:ext cx="2712719" cy="3145536"/>
          </a:xfrm>
          <a:prstGeom prst="roundRect">
            <a:avLst>
              <a:gd name="adj" fmla="val 5000"/>
            </a:avLst>
          </a:prstGeom>
          <a:solidFill>
            <a:srgbClr val="F1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ext 2"/>
          <p:cNvSpPr txBox="1"/>
          <p:nvPr/>
        </p:nvSpPr>
        <p:spPr>
          <a:xfrm>
            <a:off x="3343655" y="996696"/>
            <a:ext cx="2456688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7F2A"/>
                </a:solidFill>
                <a:latin typeface="Helvetica Neue"/>
              </a:rPr>
              <a:t>1977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Dempster, Laird &amp; Rubin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Helvetica Neue"/>
              </a:rPr>
              <a:t>EM algorithm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Maximum likelihood with missing or latent data: alternate the expected complete-data log-likelihood (E) with maximizing it (M).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Workhorse for mixed models, mixtures and missing data.</a:t>
            </a:r>
          </a:p>
        </p:txBody>
      </p:sp>
      <p:sp>
        <p:nvSpPr>
          <p:cNvPr id="8" name="Card cite 2"/>
          <p:cNvSpPr txBox="1"/>
          <p:nvPr/>
        </p:nvSpPr>
        <p:spPr>
          <a:xfrm>
            <a:off x="3343655" y="3739896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Dempster, Laird &amp; Rubin 1977, JRSS B</a:t>
            </a:r>
          </a:p>
        </p:txBody>
      </p:sp>
      <p:sp>
        <p:nvSpPr>
          <p:cNvPr id="9" name="Card 3: Bootstrap"/>
          <p:cNvSpPr/>
          <p:nvPr/>
        </p:nvSpPr>
        <p:spPr>
          <a:xfrm>
            <a:off x="6065520" y="896112"/>
            <a:ext cx="2712719" cy="3145536"/>
          </a:xfrm>
          <a:prstGeom prst="roundRect">
            <a:avLst>
              <a:gd name="adj" fmla="val 5000"/>
            </a:avLst>
          </a:prstGeom>
          <a:solidFill>
            <a:srgbClr val="F1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text 3"/>
          <p:cNvSpPr txBox="1"/>
          <p:nvPr/>
        </p:nvSpPr>
        <p:spPr>
          <a:xfrm>
            <a:off x="6193535" y="996696"/>
            <a:ext cx="2456688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7F2A"/>
                </a:solidFill>
                <a:latin typeface="Helvetica Neue"/>
              </a:rPr>
              <a:t>1979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Efron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Helvetica Neue"/>
              </a:rPr>
              <a:t>Bootstrap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Resample observations (or clusters) with replacement to approximate the sampling distribution of any statistic.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SEs and CIs without an analytic formula.</a:t>
            </a:r>
          </a:p>
        </p:txBody>
      </p:sp>
      <p:sp>
        <p:nvSpPr>
          <p:cNvPr id="11" name="Card cite 3"/>
          <p:cNvSpPr txBox="1"/>
          <p:nvPr/>
        </p:nvSpPr>
        <p:spPr>
          <a:xfrm>
            <a:off x="6193535" y="3739896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Efron 1979, Ann Stat</a:t>
            </a:r>
          </a:p>
        </p:txBody>
      </p:sp>
      <p:sp>
        <p:nvSpPr>
          <p:cNvPr id="12" name="Thread strip"/>
          <p:cNvSpPr/>
          <p:nvPr/>
        </p:nvSpPr>
        <p:spPr>
          <a:xfrm>
            <a:off x="365760" y="4178808"/>
            <a:ext cx="84124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B7F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hread text"/>
          <p:cNvSpPr txBox="1"/>
          <p:nvPr/>
        </p:nvSpPr>
        <p:spPr>
          <a:xfrm>
            <a:off x="512064" y="4206240"/>
            <a:ext cx="811987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B7F2A"/>
                </a:solidFill>
                <a:latin typeface="Helvetica Neue"/>
              </a:rPr>
              <a:t>The thread  </a:t>
            </a:r>
            <a:r>
              <a:rPr sz="1050" b="0">
                <a:solidFill>
                  <a:srgbClr val="1A1A1A"/>
                </a:solidFill>
                <a:latin typeface="Helvetica Neue Light"/>
              </a:rPr>
              <a:t>Computation replaces analytic assumptions: permutation and bootstrap build reference distributions by resampling; EM fits likelihoods with latent or missing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Smoothers and kernels: flexible mean functions</a:t>
            </a:r>
          </a:p>
        </p:txBody>
      </p:sp>
      <p:sp>
        <p:nvSpPr>
          <p:cNvPr id="3" name="Card 1: Kernel and spline smoothers"/>
          <p:cNvSpPr/>
          <p:nvPr/>
        </p:nvSpPr>
        <p:spPr>
          <a:xfrm>
            <a:off x="365760" y="896112"/>
            <a:ext cx="4137659" cy="1504188"/>
          </a:xfrm>
          <a:prstGeom prst="roundRect">
            <a:avLst>
              <a:gd name="adj" fmla="val 5000"/>
            </a:avLst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text 1"/>
          <p:cNvSpPr txBox="1"/>
          <p:nvPr/>
        </p:nvSpPr>
        <p:spPr>
          <a:xfrm>
            <a:off x="493776" y="996696"/>
            <a:ext cx="3881627" cy="1092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A8C82"/>
                </a:solidFill>
                <a:latin typeface="Helvetica Neue"/>
              </a:rPr>
              <a:t>1964–79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Nadaraya &amp; Watson; Wahba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Kernel and spline smoothers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Kernel regression: f̂(x) is a locally weighted average of nearby y.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Smoothing splines trade fit for wiggliness, with λ chosen by generalized cross-validation. LOWESS: Cleveland 1979.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8C82"/>
                </a:solidFill>
                <a:latin typeface="Cambria Math"/>
              </a:rPr>
              <a:t>min Σ(yᵢ − f(xᵢ))² + λ∫f″²</a:t>
            </a:r>
          </a:p>
        </p:txBody>
      </p:sp>
      <p:sp>
        <p:nvSpPr>
          <p:cNvPr id="5" name="Card cite 1"/>
          <p:cNvSpPr txBox="1"/>
          <p:nvPr/>
        </p:nvSpPr>
        <p:spPr>
          <a:xfrm>
            <a:off x="493776" y="2098548"/>
            <a:ext cx="3881627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Nadaraya 1964; Watson 1964; Craven &amp; Wahba 1979, Numer Math</a:t>
            </a:r>
          </a:p>
        </p:txBody>
      </p:sp>
      <p:sp>
        <p:nvSpPr>
          <p:cNvPr id="6" name="Card 2: Generalized additive models (GAMs)"/>
          <p:cNvSpPr/>
          <p:nvPr/>
        </p:nvSpPr>
        <p:spPr>
          <a:xfrm>
            <a:off x="4640580" y="896112"/>
            <a:ext cx="4137659" cy="1504188"/>
          </a:xfrm>
          <a:prstGeom prst="roundRect">
            <a:avLst>
              <a:gd name="adj" fmla="val 5000"/>
            </a:avLst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ext 2"/>
          <p:cNvSpPr txBox="1"/>
          <p:nvPr/>
        </p:nvSpPr>
        <p:spPr>
          <a:xfrm>
            <a:off x="4768596" y="996696"/>
            <a:ext cx="3881627" cy="1092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A8C82"/>
                </a:solidFill>
                <a:latin typeface="Helvetica Neue"/>
              </a:rPr>
              <a:t>1986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Hastie &amp; Tibshirani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Generalized additive models (GAMs)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Replace each linear term with a smooth function, keeping the GLM link.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Flexible but interpretable one predictor at a time; fit by backfitting.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8C82"/>
                </a:solidFill>
                <a:latin typeface="Cambria Math"/>
              </a:rPr>
              <a:t>g(E[y]) = α + Σⱼ fⱼ(xⱼ)</a:t>
            </a:r>
          </a:p>
        </p:txBody>
      </p:sp>
      <p:sp>
        <p:nvSpPr>
          <p:cNvPr id="8" name="Card cite 2"/>
          <p:cNvSpPr txBox="1"/>
          <p:nvPr/>
        </p:nvSpPr>
        <p:spPr>
          <a:xfrm>
            <a:off x="4768596" y="2098548"/>
            <a:ext cx="3881627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Hastie &amp; Tibshirani 1986, Stat Sci</a:t>
            </a:r>
          </a:p>
        </p:txBody>
      </p:sp>
      <p:sp>
        <p:nvSpPr>
          <p:cNvPr id="9" name="Card 3: Support vector machines and the kernel trick"/>
          <p:cNvSpPr/>
          <p:nvPr/>
        </p:nvSpPr>
        <p:spPr>
          <a:xfrm>
            <a:off x="365760" y="2537460"/>
            <a:ext cx="4137659" cy="1504188"/>
          </a:xfrm>
          <a:prstGeom prst="roundRect">
            <a:avLst>
              <a:gd name="adj" fmla="val 5000"/>
            </a:avLst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text 3"/>
          <p:cNvSpPr txBox="1"/>
          <p:nvPr/>
        </p:nvSpPr>
        <p:spPr>
          <a:xfrm>
            <a:off x="493776" y="2638044"/>
            <a:ext cx="3881627" cy="1092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A8C82"/>
                </a:solidFill>
                <a:latin typeface="Helvetica Neue"/>
              </a:rPr>
              <a:t>1995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Cortes &amp; Vapnik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Support vector machines and the kernel trick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A linear model in a high-dimensional feature space, computed only through a kernel k(x, x′).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Max-margin fit with sparse support vectors.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8C82"/>
                </a:solidFill>
                <a:latin typeface="Cambria Math"/>
              </a:rPr>
              <a:t>f(x) = Σᵢ αᵢ k(xᵢ, x) + b</a:t>
            </a:r>
          </a:p>
        </p:txBody>
      </p:sp>
      <p:sp>
        <p:nvSpPr>
          <p:cNvPr id="11" name="Card cite 3"/>
          <p:cNvSpPr txBox="1"/>
          <p:nvPr/>
        </p:nvSpPr>
        <p:spPr>
          <a:xfrm>
            <a:off x="493776" y="3739896"/>
            <a:ext cx="3881627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Boser, Guyon &amp; Vapnik 1992; Cortes &amp; Vapnik 1995, Mach Learn</a:t>
            </a:r>
          </a:p>
        </p:txBody>
      </p:sp>
      <p:sp>
        <p:nvSpPr>
          <p:cNvPr id="12" name="Card 4: Gaussian processes"/>
          <p:cNvSpPr/>
          <p:nvPr/>
        </p:nvSpPr>
        <p:spPr>
          <a:xfrm>
            <a:off x="4640580" y="2537460"/>
            <a:ext cx="4137659" cy="1504188"/>
          </a:xfrm>
          <a:prstGeom prst="roundRect">
            <a:avLst>
              <a:gd name="adj" fmla="val 5000"/>
            </a:avLst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text 4"/>
          <p:cNvSpPr txBox="1"/>
          <p:nvPr/>
        </p:nvSpPr>
        <p:spPr>
          <a:xfrm>
            <a:off x="4768596" y="2638044"/>
            <a:ext cx="3881627" cy="10927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A8C82"/>
                </a:solidFill>
                <a:latin typeface="Helvetica Neue"/>
              </a:rPr>
              <a:t>2006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Rasmussen &amp; Williams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A1A1A"/>
                </a:solidFill>
                <a:latin typeface="Helvetica Neue"/>
              </a:rPr>
              <a:t>Gaussian processes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Bayesian regression with a prior over functions set by a covariance kernel; the posterior mean equals kernel ridge regression.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A1A1A"/>
                </a:solidFill>
                <a:latin typeface="Helvetica Neue Light"/>
              </a:rPr>
              <a:t>Same model as geostatistical kriging.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2A8C82"/>
                </a:solidFill>
                <a:latin typeface="Cambria Math"/>
              </a:rPr>
              <a:t>f ~ GP(0, k(x, x′))</a:t>
            </a:r>
          </a:p>
        </p:txBody>
      </p:sp>
      <p:sp>
        <p:nvSpPr>
          <p:cNvPr id="14" name="Card cite 4"/>
          <p:cNvSpPr txBox="1"/>
          <p:nvPr/>
        </p:nvSpPr>
        <p:spPr>
          <a:xfrm>
            <a:off x="4768596" y="3739896"/>
            <a:ext cx="3881627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Rasmussen &amp; Williams 2006, MIT Press; Krige 1951; Matheron 1963</a:t>
            </a:r>
          </a:p>
        </p:txBody>
      </p:sp>
      <p:sp>
        <p:nvSpPr>
          <p:cNvPr id="15" name="Thread strip"/>
          <p:cNvSpPr/>
          <p:nvPr/>
        </p:nvSpPr>
        <p:spPr>
          <a:xfrm>
            <a:off x="365760" y="4178808"/>
            <a:ext cx="84124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A8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hread text"/>
          <p:cNvSpPr txBox="1"/>
          <p:nvPr/>
        </p:nvSpPr>
        <p:spPr>
          <a:xfrm>
            <a:off x="512064" y="4206240"/>
            <a:ext cx="811987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A8C82"/>
                </a:solidFill>
                <a:latin typeface="Helvetica Neue"/>
              </a:rPr>
              <a:t>The thread  </a:t>
            </a:r>
            <a:r>
              <a:rPr sz="1050" b="0">
                <a:solidFill>
                  <a:srgbClr val="1A1A1A"/>
                </a:solidFill>
                <a:latin typeface="Helvetica Neue Light"/>
              </a:rPr>
              <a:t>Flexible mean functions that stay linear in their parameters: local weights, penalized basis functions, or kernels. GAMs bring this into the GLM framework.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Shrinkage: a little bias for less variance</a:t>
            </a:r>
          </a:p>
        </p:txBody>
      </p:sp>
      <p:sp>
        <p:nvSpPr>
          <p:cNvPr id="3" name="Card 1: Stein shrinkage"/>
          <p:cNvSpPr/>
          <p:nvPr/>
        </p:nvSpPr>
        <p:spPr>
          <a:xfrm>
            <a:off x="365760" y="896112"/>
            <a:ext cx="2712719" cy="3145536"/>
          </a:xfrm>
          <a:prstGeom prst="roundRect">
            <a:avLst>
              <a:gd name="adj" fmla="val 5000"/>
            </a:avLst>
          </a:prstGeom>
          <a:solidFill>
            <a:srgbClr val="F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text 1"/>
          <p:cNvSpPr txBox="1"/>
          <p:nvPr/>
        </p:nvSpPr>
        <p:spPr>
          <a:xfrm>
            <a:off x="493776" y="996696"/>
            <a:ext cx="2456688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E3B8C"/>
                </a:solidFill>
                <a:latin typeface="Helvetica Neue"/>
              </a:rPr>
              <a:t>1956–61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Stein; James &amp; Stein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Helvetica Neue"/>
              </a:rPr>
              <a:t>Stein shrinkage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With three or more means, shrinking all toward a common value lowers total squared error versus the separate least-squares estimates.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The idea behind ridge, empirical Bayes and BLUP.</a:t>
            </a:r>
          </a:p>
        </p:txBody>
      </p:sp>
      <p:sp>
        <p:nvSpPr>
          <p:cNvPr id="5" name="Card cite 1"/>
          <p:cNvSpPr txBox="1"/>
          <p:nvPr/>
        </p:nvSpPr>
        <p:spPr>
          <a:xfrm>
            <a:off x="493776" y="3739896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Stein 1956; James &amp; Stein 1961, Proc Berkeley Symp</a:t>
            </a:r>
          </a:p>
        </p:txBody>
      </p:sp>
      <p:sp>
        <p:nvSpPr>
          <p:cNvPr id="6" name="Card 2: Ridge regression"/>
          <p:cNvSpPr/>
          <p:nvPr/>
        </p:nvSpPr>
        <p:spPr>
          <a:xfrm>
            <a:off x="3215639" y="896112"/>
            <a:ext cx="2712719" cy="3145536"/>
          </a:xfrm>
          <a:prstGeom prst="roundRect">
            <a:avLst>
              <a:gd name="adj" fmla="val 5000"/>
            </a:avLst>
          </a:prstGeom>
          <a:solidFill>
            <a:srgbClr val="F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text 2"/>
          <p:cNvSpPr txBox="1"/>
          <p:nvPr/>
        </p:nvSpPr>
        <p:spPr>
          <a:xfrm>
            <a:off x="3343655" y="996696"/>
            <a:ext cx="2456688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E3B8C"/>
                </a:solidFill>
                <a:latin typeface="Helvetica Neue"/>
              </a:rPr>
              <a:t>1970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Hoerl &amp; Kennard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Helvetica Neue"/>
              </a:rPr>
              <a:t>Ridge regression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Add λ to the diagonal: shrinks coefficients and stabilizes collinear designs.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Trades a little bias for lower variance. Same idea as Tikhonov regularization.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E3B8C"/>
                </a:solidFill>
                <a:latin typeface="Cambria Math"/>
              </a:rPr>
              <a:t>β̂ = (XᵀX + λI)⁻¹Xᵀy</a:t>
            </a:r>
          </a:p>
        </p:txBody>
      </p:sp>
      <p:sp>
        <p:nvSpPr>
          <p:cNvPr id="8" name="Card cite 2"/>
          <p:cNvSpPr txBox="1"/>
          <p:nvPr/>
        </p:nvSpPr>
        <p:spPr>
          <a:xfrm>
            <a:off x="3343655" y="3739896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Hoerl &amp; Kennard 1970, Technometrics</a:t>
            </a:r>
          </a:p>
        </p:txBody>
      </p:sp>
      <p:sp>
        <p:nvSpPr>
          <p:cNvPr id="9" name="Card 3: Lasso"/>
          <p:cNvSpPr/>
          <p:nvPr/>
        </p:nvSpPr>
        <p:spPr>
          <a:xfrm>
            <a:off x="6065520" y="896112"/>
            <a:ext cx="2712719" cy="3145536"/>
          </a:xfrm>
          <a:prstGeom prst="roundRect">
            <a:avLst>
              <a:gd name="adj" fmla="val 5000"/>
            </a:avLst>
          </a:prstGeom>
          <a:solidFill>
            <a:srgbClr val="F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text 3"/>
          <p:cNvSpPr txBox="1"/>
          <p:nvPr/>
        </p:nvSpPr>
        <p:spPr>
          <a:xfrm>
            <a:off x="6193535" y="996696"/>
            <a:ext cx="2456688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E3B8C"/>
                </a:solidFill>
                <a:latin typeface="Helvetica Neue"/>
              </a:rPr>
              <a:t>1996  </a:t>
            </a:r>
            <a:r>
              <a:rPr sz="1000" b="1">
                <a:solidFill>
                  <a:srgbClr val="5A5A5A"/>
                </a:solidFill>
                <a:latin typeface="Helvetica Neue"/>
              </a:rPr>
              <a:t>Tibshirani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Helvetica Neue"/>
              </a:rPr>
              <a:t>Lasso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An L1 penalty shrinks coefficients and sets some exactly to zero, so it selects variables.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Helvetica Neue Light"/>
              </a:rPr>
              <a:t>Foundation of sparse modeling (elastic net, group lasso).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E3B8C"/>
                </a:solidFill>
                <a:latin typeface="Cambria Math"/>
              </a:rPr>
              <a:t>min ‖y − Xβ‖² + λΣ|βⱼ|</a:t>
            </a:r>
          </a:p>
        </p:txBody>
      </p:sp>
      <p:sp>
        <p:nvSpPr>
          <p:cNvPr id="11" name="Card cite 3"/>
          <p:cNvSpPr txBox="1"/>
          <p:nvPr/>
        </p:nvSpPr>
        <p:spPr>
          <a:xfrm>
            <a:off x="6193535" y="3739896"/>
            <a:ext cx="2456688" cy="228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5A5A5A"/>
                </a:solidFill>
                <a:latin typeface="Helvetica Neue Light"/>
              </a:rPr>
              <a:t>Tibshirani 1996, JRSS B</a:t>
            </a:r>
          </a:p>
        </p:txBody>
      </p:sp>
      <p:sp>
        <p:nvSpPr>
          <p:cNvPr id="12" name="Thread strip"/>
          <p:cNvSpPr/>
          <p:nvPr/>
        </p:nvSpPr>
        <p:spPr>
          <a:xfrm>
            <a:off x="365760" y="4178808"/>
            <a:ext cx="841248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E3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hread text"/>
          <p:cNvSpPr txBox="1"/>
          <p:nvPr/>
        </p:nvSpPr>
        <p:spPr>
          <a:xfrm>
            <a:off x="512064" y="4206240"/>
            <a:ext cx="811987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8E3B8C"/>
                </a:solidFill>
                <a:latin typeface="Helvetica Neue"/>
              </a:rPr>
              <a:t>The thread  </a:t>
            </a:r>
            <a:r>
              <a:rPr sz="1050" b="0">
                <a:solidFill>
                  <a:srgbClr val="1A1A1A"/>
                </a:solidFill>
                <a:latin typeface="Helvetica Neue Light"/>
              </a:rPr>
              <a:t>Accept a little bias for much lower variance by shrinking estimates toward zero or a common value. Random-effects BLUP is the same idea.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wrap="square" rtlCol="0" anchor="ctr">
        <a:spAutoFit/>
      </a:bodyPr>
      <a:lstStyle>
        <a:defPPr algn="ctr">
          <a:defRPr sz="1200" dirty="0" smtClean="0">
            <a:solidFill>
              <a:prstClr val="black"/>
            </a:solidFill>
            <a:latin typeface="Helvetica Neue Light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none" rtlCol="0">
        <a:spAutoFit/>
      </a:bodyPr>
      <a:lstStyle>
        <a:defPPr algn="l">
          <a:defRPr sz="2000" dirty="0" smtClean="0">
            <a:latin typeface="Helvetica Neue Light" panose="02000403000000020004" pitchFamily="2" charset="0"/>
            <a:ea typeface="Helvetica Neue Light" panose="02000403000000020004" pitchFamily="2" charset="0"/>
            <a:cs typeface="Helvetica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28054</TotalTime>
  <Words>2799</Words>
  <Application>Microsoft Macintosh PowerPoint</Application>
  <PresentationFormat>On-screen Show (16:9)</PresentationFormat>
  <Paragraphs>1022</Paragraphs>
  <Slides>54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Avenir Book</vt:lpstr>
      <vt:lpstr>Bell MT</vt:lpstr>
      <vt:lpstr>Calibri</vt:lpstr>
      <vt:lpstr>Helvetica Neue</vt:lpstr>
      <vt:lpstr>Helvetica Neue Light</vt:lpstr>
      <vt:lpstr>Helvetica Neue Light</vt:lpstr>
      <vt:lpstr>Office Theme</vt:lpstr>
      <vt:lpstr>Avoidance learning:  From basic circuits to psychological intervention</vt:lpstr>
      <vt:lpstr>Title – summary of main point</vt:lpstr>
      <vt:lpstr>Title – summary of main point</vt:lpstr>
      <vt:lpstr>Timeline of Key Findings in Thirst &amp; Drinking</vt:lpstr>
      <vt:lpstr>PowerPoint Presentation</vt:lpstr>
      <vt:lpstr>New targets for pain control: Sensorimotor pathways</vt:lpstr>
      <vt:lpstr>Roadmap</vt:lpstr>
      <vt:lpstr>Roadmap</vt:lpstr>
      <vt:lpstr>Roadmap</vt:lpstr>
      <vt:lpstr>Roadmap</vt:lpstr>
      <vt:lpstr>Roadmap</vt:lpstr>
      <vt:lpstr>Roadmap</vt:lpstr>
      <vt:lpstr>Roadmap</vt:lpstr>
      <vt:lpstr>Summary</vt:lpstr>
      <vt:lpstr>PowerPoint Presentation</vt:lpstr>
      <vt:lpstr>PowerPoint Presentation</vt:lpstr>
      <vt:lpstr>Thank you!</vt:lpstr>
      <vt:lpstr>Cognitive and Affective Neuroscience Lab 2026</vt:lpstr>
      <vt:lpstr>Cognitive and Affective Neuroscience Lab 2026</vt:lpstr>
      <vt:lpstr>Boulder pain and placebo genetics study</vt:lpstr>
      <vt:lpstr>Genetics team</vt:lpstr>
      <vt:lpstr>Chronic back pain team</vt:lpstr>
      <vt:lpstr>Funders and supporters</vt:lpstr>
      <vt:lpstr>Cognitive and Affective Neuroscience Lab</vt:lpstr>
      <vt:lpstr>older</vt:lpstr>
      <vt:lpstr>Thank you!</vt:lpstr>
      <vt:lpstr>Cognitive and Affective Neuroscience Lab Members - 2025</vt:lpstr>
      <vt:lpstr>Cognitive and Affective Neuroscience Lab Members - 2025</vt:lpstr>
      <vt:lpstr>Collaborators and Former Lab Members - 2025</vt:lpstr>
      <vt:lpstr>Cognitive and Affective Neuroscience Lab Members - 2022</vt:lpstr>
      <vt:lpstr>Collaborators and Former Lab Members - 2022</vt:lpstr>
      <vt:lpstr>Funders and supporters</vt:lpstr>
      <vt:lpstr>PowerPoint Presentation</vt:lpstr>
      <vt:lpstr>CANlab World Map</vt:lpstr>
      <vt:lpstr>Cognitive and Affective Neuroscience Lab Members - 2020</vt:lpstr>
      <vt:lpstr>Cognitive and Affective Neuroscience Lab Members - 2022</vt:lpstr>
      <vt:lpstr>Collaborators and Former Lab Members - 2022</vt:lpstr>
      <vt:lpstr>PowerPoint Presentation</vt:lpstr>
      <vt:lpstr>Cognitive and Affective Neuroscience Lab Members - 2021</vt:lpstr>
      <vt:lpstr>Collaborators and Former Lab Members - 2021</vt:lpstr>
      <vt:lpstr>Cognitive and Affective Neuroscience Lab Members</vt:lpstr>
      <vt:lpstr>Cognitive and Affective Neuroscience Lab Undergraduate RAs</vt:lpstr>
      <vt:lpstr>Collaborators and Former Lab Members - 2020</vt:lpstr>
      <vt:lpstr>Collaborators and Former Lab Members</vt:lpstr>
      <vt:lpstr>PowerPoint Presentation</vt:lpstr>
      <vt:lpstr>PowerPoint Presentation</vt:lpstr>
      <vt:lpstr>Supportive touch: Multiple potential pathways beyond NPS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Collaborators</vt:lpstr>
    </vt:vector>
  </TitlesOfParts>
  <Company>The University of Colorado Boulder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ChoongWan Woo</dc:creator>
  <cp:lastModifiedBy>Tor D. Wager</cp:lastModifiedBy>
  <cp:revision>1131</cp:revision>
  <cp:lastPrinted>2017-10-19T16:19:42Z</cp:lastPrinted>
  <dcterms:created xsi:type="dcterms:W3CDTF">2013-04-03T17:34:10Z</dcterms:created>
  <dcterms:modified xsi:type="dcterms:W3CDTF">2026-06-28T23:16:12Z</dcterms:modified>
</cp:coreProperties>
</file>